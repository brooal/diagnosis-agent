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b2b97625614c8d" /><Relationship Type="http://schemas.openxmlformats.org/officeDocument/2006/relationships/extended-properties" Target="/docProps/app.xml" Id="Redbd1d7c350b4429" /><Relationship Type="http://schemas.openxmlformats.org/officeDocument/2006/relationships/officeDocument" Target="/ppt/presentation.xml" Id="R22f272ace3044f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b2d0fc8f424624"/>
  </p:sldMasterIdLst>
  <p:notesMasterIdLst>
    <p:notesMasterId xmlns:r="http://schemas.openxmlformats.org/officeDocument/2006/relationships" r:id="R60228a47bf4a4fcd"/>
  </p:notesMasterIdLst>
  <p:sldIdLst>
    <p:sldId xmlns:r="http://schemas.openxmlformats.org/officeDocument/2006/relationships" id="256" r:id="R55a9bbd0e5334c9b"/>
    <p:sldId xmlns:r="http://schemas.openxmlformats.org/officeDocument/2006/relationships" id="257" r:id="R774bfcfec6384439"/>
    <p:sldId xmlns:r="http://schemas.openxmlformats.org/officeDocument/2006/relationships" id="258" r:id="R436d1f69408e45b9"/>
    <p:sldId xmlns:r="http://schemas.openxmlformats.org/officeDocument/2006/relationships" id="259" r:id="R33dc85e280a34b7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706e758c0d4e49" /><Relationship Type="http://schemas.openxmlformats.org/officeDocument/2006/relationships/slideMaster" Target="/ppt/slideMasters/slideMaster1.xml" Id="Rc2b2d0fc8f424624" /><Relationship Type="http://schemas.openxmlformats.org/officeDocument/2006/relationships/notesMaster" Target="/ppt/notesMasters/notesMaster1.xml" Id="R60228a47bf4a4fcd" /><Relationship Type="http://schemas.openxmlformats.org/officeDocument/2006/relationships/presProps" Target="/ppt/presProps.xml" Id="Rf0482750eb1845ce" /><Relationship Type="http://schemas.openxmlformats.org/officeDocument/2006/relationships/tableStyles" Target="/ppt/tableStyles.xml" Id="Rf6a97ecf39594bd8" /><Relationship Type="http://schemas.openxmlformats.org/officeDocument/2006/relationships/slide" Target="/ppt/slides/slide1.xml" Id="R55a9bbd0e5334c9b" /><Relationship Type="http://schemas.openxmlformats.org/officeDocument/2006/relationships/slide" Target="/ppt/slides/slide2.xml" Id="R774bfcfec6384439" /><Relationship Type="http://schemas.openxmlformats.org/officeDocument/2006/relationships/slide" Target="/ppt/slides/slide3.xml" Id="R436d1f69408e45b9" /><Relationship Type="http://schemas.openxmlformats.org/officeDocument/2006/relationships/slide" Target="/ppt/slides/slide4.xml" Id="R33dc85e280a34b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3186d99cb942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b02c3d1a844017" /><Relationship Type="http://schemas.openxmlformats.org/officeDocument/2006/relationships/notesMaster" Target="/ppt/notesMasters/notesMaster1.xml" Id="R17e06e7d0e7247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aae8d59a5f407f" /><Relationship Type="http://schemas.openxmlformats.org/officeDocument/2006/relationships/notesMaster" Target="/ppt/notesMasters/notesMaster1.xml" Id="Re34aff27d58048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98f26682d2497c" /><Relationship Type="http://schemas.openxmlformats.org/officeDocument/2006/relationships/notesMaster" Target="/ppt/notesMasters/notesMaster1.xml" Id="Ra7716c51d70b48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44166d363d4d67" /><Relationship Type="http://schemas.openxmlformats.org/officeDocument/2006/relationships/notesMaster" Target="/ppt/notesMasters/notesMaster1.xml" Id="Rb2d06ae61fbc4c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88889a50c149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560e364ed9442b" /><Relationship Type="http://schemas.openxmlformats.org/officeDocument/2006/relationships/slideLayout" Target="/ppt/slideLayouts/slideLayout1.xml" Id="R3fbb362fbbf74c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bb362fbbf74c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fdd317b5e4aaa" /><Relationship Type="http://schemas.openxmlformats.org/officeDocument/2006/relationships/notesSlide" Target="/ppt/notesSlides/notesSlide1.xml" Id="R0cb007046ca340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24e1161ff4197" /><Relationship Type="http://schemas.openxmlformats.org/officeDocument/2006/relationships/notesSlide" Target="/ppt/notesSlides/notesSlide2.xml" Id="Rdf5ea89b78ac4d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5c2c1e5354764" /><Relationship Type="http://schemas.openxmlformats.org/officeDocument/2006/relationships/notesSlide" Target="/ppt/notesSlides/notesSlide3.xml" Id="R68da7a0fdceb43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bd80ad06c4adb" /><Relationship Type="http://schemas.openxmlformats.org/officeDocument/2006/relationships/notesSlide" Target="/ppt/notesSlides/notesSlide4.xml" Id="Rcbc43f6f27c046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write-slide1-title">
            <a:extLst xmlns:a="http://schemas.openxmlformats.org/drawingml/2006/main">
              <a:ext uri="{FF2B5EF4-FFF2-40B4-BE49-F238E27FC236}">
                <a16:creationId xmlns:a16="http://schemas.microsoft.com/office/drawing/2014/main" id="{BE2E082D-306B-4322-9F0A-34E52BC6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791950" cy="653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HarnessAgent 把一次诊断组织成可解释的闭环</a:t>
            </a:r>
          </a:p>
        </p:txBody>
      </p:sp>
      <p:sp>
        <p:nvSpPr>
          <p:cNvPr id="2" name="rewrite-slide1-subtitle">
            <a:extLst xmlns:a="http://schemas.openxmlformats.org/drawingml/2006/main">
              <a:ext uri="{FF2B5EF4-FFF2-40B4-BE49-F238E27FC236}">
                <a16:creationId xmlns:a16="http://schemas.microsoft.com/office/drawing/2014/main" id="{7FEDA5BA-8ADE-4EFA-8124-8B2E0394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791950" cy="575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它不是单一模型，而是连接诊断任务、专业能力、事实证据和最终结论的运行框架。</a:t>
            </a:r>
          </a:p>
        </p:txBody>
      </p:sp>
      <p:sp>
        <p:nvSpPr>
          <p:cNvPr id="3" name="rewrite-slide1-left-panel">
            <a:extLst xmlns:a="http://schemas.openxmlformats.org/drawingml/2006/main">
              <a:ext uri="{FF2B5EF4-FFF2-40B4-BE49-F238E27FC236}">
                <a16:creationId xmlns:a16="http://schemas.microsoft.com/office/drawing/2014/main" id="{86EEADD8-4E17-4F86-9308-301766DF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7813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6DCBF4"/>
            </a:solidFill>
            <a:prstDash val="solid"/>
          </a:ln>
        </p:spPr>
      </p:sp>
      <p:sp>
        <p:nvSpPr>
          <p:cNvPr id="4" name="rewrite-slide1-left-title">
            <a:extLst xmlns:a="http://schemas.openxmlformats.org/drawingml/2006/main">
              <a:ext uri="{FF2B5EF4-FFF2-40B4-BE49-F238E27FC236}">
                <a16:creationId xmlns:a16="http://schemas.microsoft.com/office/drawing/2014/main" id="{B6A40727-70FD-4284-935D-06D29149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1544300" cy="481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HarnessAgent</a:t>
            </a:r>
          </a:p>
        </p:txBody>
      </p:sp>
      <p:sp>
        <p:nvSpPr>
          <p:cNvPr id="5" name="rewrite-slide1-left-summary">
            <a:extLst xmlns:a="http://schemas.openxmlformats.org/drawingml/2006/main">
              <a:ext uri="{FF2B5EF4-FFF2-40B4-BE49-F238E27FC236}">
                <a16:creationId xmlns:a16="http://schemas.microsoft.com/office/drawing/2014/main" id="{66A12552-A53C-4CE2-B4E4-3DC29E2C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11544300" cy="42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负责把诊断任务
持续推进，直到形成
可复查的结论。</a:t>
            </a:r>
          </a:p>
        </p:txBody>
      </p:sp>
      <p:sp>
        <p:nvSpPr>
          <p:cNvPr id="6" name="rewrite-slide1-left-io">
            <a:extLst xmlns:a="http://schemas.openxmlformats.org/drawingml/2006/main">
              <a:ext uri="{FF2B5EF4-FFF2-40B4-BE49-F238E27FC236}">
                <a16:creationId xmlns:a16="http://schemas.microsoft.com/office/drawing/2014/main" id="{602DD744-1D6D-4C23-A81E-ED6363B1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1544300" cy="331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输入
对话问题 / 自动触发
输出
证据化结论 / 处置建议</a:t>
            </a:r>
          </a:p>
        </p:txBody>
      </p:sp>
      <p:sp>
        <p:nvSpPr>
          <p:cNvPr id="7" name="rewrite-slide1-process-line">
            <a:extLst xmlns:a="http://schemas.openxmlformats.org/drawingml/2006/main">
              <a:ext uri="{FF2B5EF4-FFF2-40B4-BE49-F238E27FC236}">
                <a16:creationId xmlns:a16="http://schemas.microsoft.com/office/drawing/2014/main" id="{72D5BC75-5DC9-4F40-97B4-C4C15A75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57500"/>
            <a:ext cx="7181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8" name="rewrite-slide1-loop-label">
            <a:extLst xmlns:a="http://schemas.openxmlformats.org/drawingml/2006/main">
              <a:ext uri="{FF2B5EF4-FFF2-40B4-BE49-F238E27FC236}">
                <a16:creationId xmlns:a16="http://schemas.microsoft.com/office/drawing/2014/main" id="{4169B946-EC11-4843-9B1E-42454DDC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57375"/>
            <a:ext cx="8553450" cy="500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HarnessAgent 的诊断循环</a:t>
            </a:r>
          </a:p>
        </p:txBody>
      </p:sp>
      <p:sp>
        <p:nvSpPr>
          <p:cNvPr id="9" name="rewrite-slide1-loop-note">
            <a:extLst xmlns:a="http://schemas.openxmlformats.org/drawingml/2006/main">
              <a:ext uri="{FF2B5EF4-FFF2-40B4-BE49-F238E27FC236}">
                <a16:creationId xmlns:a16="http://schemas.microsoft.com/office/drawing/2014/main" id="{9B932317-899D-401A-8358-E509EB50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47900"/>
            <a:ext cx="8553450" cy="461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证据不足时继续下一轮；证据充分时进入总结</a:t>
            </a:r>
          </a:p>
        </p:txBody>
      </p:sp>
      <p:sp>
        <p:nvSpPr>
          <p:cNvPr id="10" name="rewrite-slide1-node-1">
            <a:extLst xmlns:a="http://schemas.openxmlformats.org/drawingml/2006/main">
              <a:ext uri="{FF2B5EF4-FFF2-40B4-BE49-F238E27FC236}">
                <a16:creationId xmlns:a16="http://schemas.microsoft.com/office/drawing/2014/main" id="{40055938-21FC-4744-8524-49D30E23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431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write-slide1-number-1">
            <a:extLst xmlns:a="http://schemas.openxmlformats.org/drawingml/2006/main">
              <a:ext uri="{FF2B5EF4-FFF2-40B4-BE49-F238E27FC236}">
                <a16:creationId xmlns:a16="http://schemas.microsoft.com/office/drawing/2014/main" id="{D9383D81-A2E3-4B9E-A8F6-97A64AD5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62250"/>
            <a:ext cx="836295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2" name="rewrite-slide1-step-title-1">
            <a:extLst xmlns:a="http://schemas.openxmlformats.org/drawingml/2006/main">
              <a:ext uri="{FF2B5EF4-FFF2-40B4-BE49-F238E27FC236}">
                <a16:creationId xmlns:a16="http://schemas.microsoft.com/office/drawing/2014/main" id="{F7AA811B-0F2A-48B1-8B57-BB25091A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76625"/>
            <a:ext cx="8553450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理解任务</a:t>
            </a:r>
          </a:p>
        </p:txBody>
      </p:sp>
      <p:sp>
        <p:nvSpPr>
          <p:cNvPr id="13" name="rewrite-slide1-step-body-1">
            <a:extLst xmlns:a="http://schemas.openxmlformats.org/drawingml/2006/main">
              <a:ext uri="{FF2B5EF4-FFF2-40B4-BE49-F238E27FC236}">
                <a16:creationId xmlns:a16="http://schemas.microsoft.com/office/drawing/2014/main" id="{AF783D56-01E5-4C79-BE1A-5C6DB56C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14775"/>
            <a:ext cx="8553450" cy="2943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识别诊断对象
明确时间范围
理解关注问题</a:t>
            </a:r>
          </a:p>
        </p:txBody>
      </p:sp>
      <p:sp>
        <p:nvSpPr>
          <p:cNvPr id="14" name="rewrite-slide1-node-2">
            <a:extLst xmlns:a="http://schemas.openxmlformats.org/drawingml/2006/main">
              <a:ext uri="{FF2B5EF4-FFF2-40B4-BE49-F238E27FC236}">
                <a16:creationId xmlns:a16="http://schemas.microsoft.com/office/drawing/2014/main" id="{B18BD865-6F74-4421-9449-A97E6A4A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5431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write-slide1-number-2">
            <a:extLst xmlns:a="http://schemas.openxmlformats.org/drawingml/2006/main">
              <a:ext uri="{FF2B5EF4-FFF2-40B4-BE49-F238E27FC236}">
                <a16:creationId xmlns:a16="http://schemas.microsoft.com/office/drawing/2014/main" id="{16B58DE3-44C2-4076-9204-AC99FC98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762250"/>
            <a:ext cx="6486525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6" name="rewrite-slide1-step-title-2">
            <a:extLst xmlns:a="http://schemas.openxmlformats.org/drawingml/2006/main">
              <a:ext uri="{FF2B5EF4-FFF2-40B4-BE49-F238E27FC236}">
                <a16:creationId xmlns:a16="http://schemas.microsoft.com/office/drawing/2014/main" id="{88D3F0ED-C169-496F-A843-47AC5CFB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476625"/>
            <a:ext cx="6677025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选择能力</a:t>
            </a:r>
          </a:p>
        </p:txBody>
      </p:sp>
      <p:sp>
        <p:nvSpPr>
          <p:cNvPr id="17" name="rewrite-slide1-step-body-2">
            <a:extLst xmlns:a="http://schemas.openxmlformats.org/drawingml/2006/main">
              <a:ext uri="{FF2B5EF4-FFF2-40B4-BE49-F238E27FC236}">
                <a16:creationId xmlns:a16="http://schemas.microsoft.com/office/drawing/2014/main" id="{EC634C1C-C2AC-4F40-BF5B-FE1F122A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914775"/>
            <a:ext cx="6677025" cy="2943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依据已有信息
选择合适的
诊断 Skill</a:t>
            </a:r>
          </a:p>
        </p:txBody>
      </p:sp>
      <p:sp>
        <p:nvSpPr>
          <p:cNvPr id="18" name="rewrite-slide1-node-3">
            <a:extLst xmlns:a="http://schemas.openxmlformats.org/drawingml/2006/main">
              <a:ext uri="{FF2B5EF4-FFF2-40B4-BE49-F238E27FC236}">
                <a16:creationId xmlns:a16="http://schemas.microsoft.com/office/drawing/2014/main" id="{341B4784-21E9-4187-AC0E-E505F7FC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431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9" name="rewrite-slide1-number-3">
            <a:extLst xmlns:a="http://schemas.openxmlformats.org/drawingml/2006/main">
              <a:ext uri="{FF2B5EF4-FFF2-40B4-BE49-F238E27FC236}">
                <a16:creationId xmlns:a16="http://schemas.microsoft.com/office/drawing/2014/main" id="{826CD8BB-E2FE-4187-A224-E7F02740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62250"/>
            <a:ext cx="46101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20" name="rewrite-slide1-step-title-3">
            <a:extLst xmlns:a="http://schemas.openxmlformats.org/drawingml/2006/main">
              <a:ext uri="{FF2B5EF4-FFF2-40B4-BE49-F238E27FC236}">
                <a16:creationId xmlns:a16="http://schemas.microsoft.com/office/drawing/2014/main" id="{C5EF4EAA-218A-4580-A57A-9BF61828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76625"/>
            <a:ext cx="4800600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获取证据</a:t>
            </a:r>
          </a:p>
        </p:txBody>
      </p:sp>
      <p:sp>
        <p:nvSpPr>
          <p:cNvPr id="21" name="rewrite-slide1-step-body-3">
            <a:extLst xmlns:a="http://schemas.openxmlformats.org/drawingml/2006/main">
              <a:ext uri="{FF2B5EF4-FFF2-40B4-BE49-F238E27FC236}">
                <a16:creationId xmlns:a16="http://schemas.microsoft.com/office/drawing/2014/main" id="{5A347E8B-29F3-4D8C-80AF-B2EA9097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14775"/>
            <a:ext cx="4800600" cy="2943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查询只读数据
执行规则分析
形成事实依据</a:t>
            </a:r>
          </a:p>
        </p:txBody>
      </p:sp>
      <p:sp>
        <p:nvSpPr>
          <p:cNvPr id="22" name="rewrite-slide1-node-4">
            <a:extLst xmlns:a="http://schemas.openxmlformats.org/drawingml/2006/main">
              <a:ext uri="{FF2B5EF4-FFF2-40B4-BE49-F238E27FC236}">
                <a16:creationId xmlns:a16="http://schemas.microsoft.com/office/drawing/2014/main" id="{D3221EC2-5F43-42DA-A499-2A3DBC4B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431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3" name="rewrite-slide1-number-4">
            <a:extLst xmlns:a="http://schemas.openxmlformats.org/drawingml/2006/main">
              <a:ext uri="{FF2B5EF4-FFF2-40B4-BE49-F238E27FC236}">
                <a16:creationId xmlns:a16="http://schemas.microsoft.com/office/drawing/2014/main" id="{5C76CDC2-144A-47CA-A70F-03D7A682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762250"/>
            <a:ext cx="2733675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4" name="rewrite-slide1-step-title-4">
            <a:extLst xmlns:a="http://schemas.openxmlformats.org/drawingml/2006/main">
              <a:ext uri="{FF2B5EF4-FFF2-40B4-BE49-F238E27FC236}">
                <a16:creationId xmlns:a16="http://schemas.microsoft.com/office/drawing/2014/main" id="{CB5DE047-C5E4-48FB-A545-9305DE1A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76625"/>
            <a:ext cx="2924175" cy="3381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形成结论</a:t>
            </a:r>
          </a:p>
        </p:txBody>
      </p:sp>
      <p:sp>
        <p:nvSpPr>
          <p:cNvPr id="25" name="rewrite-slide1-step-body-4">
            <a:extLst xmlns:a="http://schemas.openxmlformats.org/drawingml/2006/main">
              <a:ext uri="{FF2B5EF4-FFF2-40B4-BE49-F238E27FC236}">
                <a16:creationId xmlns:a16="http://schemas.microsoft.com/office/drawing/2014/main" id="{919D5344-E0CD-45E4-802C-A8BDA78A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914775"/>
            <a:ext cx="2924175" cy="2943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汇总候选原因
给出置信判断
提出下一步建议</a:t>
            </a:r>
          </a:p>
        </p:txBody>
      </p:sp>
      <p:sp>
        <p:nvSpPr>
          <p:cNvPr id="26" name="rewrite-slide1-bottom-band">
            <a:extLst xmlns:a="http://schemas.openxmlformats.org/drawingml/2006/main">
              <a:ext uri="{FF2B5EF4-FFF2-40B4-BE49-F238E27FC236}">
                <a16:creationId xmlns:a16="http://schemas.microsoft.com/office/drawing/2014/main" id="{16F3A2B4-2239-477E-A74A-F4DBA4F1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27" name="rewrite-slide1-bottom-text">
            <a:extLst xmlns:a="http://schemas.openxmlformats.org/drawingml/2006/main">
              <a:ext uri="{FF2B5EF4-FFF2-40B4-BE49-F238E27FC236}">
                <a16:creationId xmlns:a16="http://schemas.microsoft.com/office/drawing/2014/main" id="{AB4C43AD-8653-4F66-9273-69686E13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115443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核心分工：LLM 负责规划与解释｜Skill 负责专业判断｜工具提供事实数据｜Harness 保存完整过程</a:t>
            </a:r>
          </a:p>
        </p:txBody>
      </p:sp>
      <p:sp>
        <p:nvSpPr>
          <p:cNvPr id="28" name="page-1">
            <a:extLst xmlns:a="http://schemas.openxmlformats.org/drawingml/2006/main">
              <a:ext uri="{FF2B5EF4-FFF2-40B4-BE49-F238E27FC236}">
                <a16:creationId xmlns:a16="http://schemas.microsoft.com/office/drawing/2014/main" id="{8B4187B5-970B-46EE-8891-74B79909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9334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39775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ewrite-slide2-title">
            <a:extLst xmlns:a="http://schemas.openxmlformats.org/drawingml/2006/main">
              <a:ext uri="{FF2B5EF4-FFF2-40B4-BE49-F238E27FC236}">
                <a16:creationId xmlns:a16="http://schemas.microsoft.com/office/drawing/2014/main" id="{CAB90B47-374E-4637-A43C-3CA2F4F1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791950" cy="653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两种诊断方式服务不同场景，共享同一证据体系</a:t>
            </a:r>
          </a:p>
        </p:txBody>
      </p:sp>
      <p:sp>
        <p:nvSpPr>
          <p:cNvPr id="2" name="rewrite-slide2-subtitle">
            <a:extLst xmlns:a="http://schemas.openxmlformats.org/drawingml/2006/main">
              <a:ext uri="{FF2B5EF4-FFF2-40B4-BE49-F238E27FC236}">
                <a16:creationId xmlns:a16="http://schemas.microsoft.com/office/drawing/2014/main" id="{E3E8CBFC-6129-47F0-B68E-260CF4F2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791950" cy="575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自动诊断追求持续、稳定和低成本；对话诊断解决临时、复杂并需要追问的问题。</a:t>
            </a:r>
          </a:p>
        </p:txBody>
      </p:sp>
      <p:sp>
        <p:nvSpPr>
          <p:cNvPr id="3" name="rewrite-slide2-divider">
            <a:extLst xmlns:a="http://schemas.openxmlformats.org/drawingml/2006/main">
              <a:ext uri="{FF2B5EF4-FFF2-40B4-BE49-F238E27FC236}">
                <a16:creationId xmlns:a16="http://schemas.microsoft.com/office/drawing/2014/main" id="{B9001947-518F-42B9-9677-8B251ACD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24025"/>
            <a:ext cx="19050" cy="341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rewrite-slide2-auto-title">
            <a:extLst xmlns:a="http://schemas.openxmlformats.org/drawingml/2006/main">
              <a:ext uri="{FF2B5EF4-FFF2-40B4-BE49-F238E27FC236}">
                <a16:creationId xmlns:a16="http://schemas.microsoft.com/office/drawing/2014/main" id="{5B809D8B-00FB-4F13-9060-F8813EF7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639550" cy="510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自动诊断</a:t>
            </a:r>
          </a:p>
        </p:txBody>
      </p:sp>
      <p:sp>
        <p:nvSpPr>
          <p:cNvPr id="5" name="rewrite-slide2-auto-tagline">
            <a:extLst xmlns:a="http://schemas.openxmlformats.org/drawingml/2006/main">
              <a:ext uri="{FF2B5EF4-FFF2-40B4-BE49-F238E27FC236}">
                <a16:creationId xmlns:a16="http://schemas.microsoft.com/office/drawing/2014/main" id="{DEDFA871-64BA-4260-B1C8-667CA390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11639550" cy="464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稳定运行优先</a:t>
            </a:r>
          </a:p>
        </p:txBody>
      </p:sp>
      <p:sp>
        <p:nvSpPr>
          <p:cNvPr id="6" name="rewrite-slide2-chat-title">
            <a:extLst xmlns:a="http://schemas.openxmlformats.org/drawingml/2006/main">
              <a:ext uri="{FF2B5EF4-FFF2-40B4-BE49-F238E27FC236}">
                <a16:creationId xmlns:a16="http://schemas.microsoft.com/office/drawing/2014/main" id="{4441C440-2EC0-48E7-AA17-F088317E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5695950" cy="510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对话诊断</a:t>
            </a:r>
          </a:p>
        </p:txBody>
      </p:sp>
      <p:sp>
        <p:nvSpPr>
          <p:cNvPr id="7" name="rewrite-slide2-chat-tagline">
            <a:extLst xmlns:a="http://schemas.openxmlformats.org/drawingml/2006/main">
              <a:ext uri="{FF2B5EF4-FFF2-40B4-BE49-F238E27FC236}">
                <a16:creationId xmlns:a16="http://schemas.microsoft.com/office/drawing/2014/main" id="{4B5F7066-2234-46BA-B31A-AF7ACEE8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09800"/>
            <a:ext cx="5695950" cy="464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灵活分析优先</a:t>
            </a:r>
          </a:p>
        </p:txBody>
      </p:sp>
      <p:sp>
        <p:nvSpPr>
          <p:cNvPr id="8" name="rewrite-slide2-auto-circle-1">
            <a:extLst xmlns:a="http://schemas.openxmlformats.org/drawingml/2006/main">
              <a:ext uri="{FF2B5EF4-FFF2-40B4-BE49-F238E27FC236}">
                <a16:creationId xmlns:a16="http://schemas.microsoft.com/office/drawing/2014/main" id="{5C9E38D2-F41C-480E-A6B7-50C9E0AA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rewrite-slide2-auto-number-1">
            <a:extLst xmlns:a="http://schemas.openxmlformats.org/drawingml/2006/main">
              <a:ext uri="{FF2B5EF4-FFF2-40B4-BE49-F238E27FC236}">
                <a16:creationId xmlns:a16="http://schemas.microsoft.com/office/drawing/2014/main" id="{624D0944-928E-4365-8027-B9284DF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11496675" cy="404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  <p:sp>
        <p:nvSpPr>
          <p:cNvPr id="10" name="rewrite-slide2-auto-step-1">
            <a:extLst xmlns:a="http://schemas.openxmlformats.org/drawingml/2006/main">
              <a:ext uri="{FF2B5EF4-FFF2-40B4-BE49-F238E27FC236}">
                <a16:creationId xmlns:a16="http://schemas.microsoft.com/office/drawing/2014/main" id="{22C1BD97-2509-467C-9066-C843D6C5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110871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定时检查连续时间窗</a:t>
            </a:r>
          </a:p>
        </p:txBody>
      </p:sp>
      <p:sp>
        <p:nvSpPr>
          <p:cNvPr id="11" name="rewrite-slide2-chat-circle-1">
            <a:extLst xmlns:a="http://schemas.openxmlformats.org/drawingml/2006/main">
              <a:ext uri="{FF2B5EF4-FFF2-40B4-BE49-F238E27FC236}">
                <a16:creationId xmlns:a16="http://schemas.microsoft.com/office/drawing/2014/main" id="{73A33DDE-F447-47F4-8525-192ED4FF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rewrite-slide2-chat-number-1">
            <a:extLst xmlns:a="http://schemas.openxmlformats.org/drawingml/2006/main">
              <a:ext uri="{FF2B5EF4-FFF2-40B4-BE49-F238E27FC236}">
                <a16:creationId xmlns:a16="http://schemas.microsoft.com/office/drawing/2014/main" id="{29F01CE1-31E8-4792-A64F-B2AFF6DD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09875"/>
            <a:ext cx="5553075" cy="404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  <p:sp>
        <p:nvSpPr>
          <p:cNvPr id="13" name="rewrite-slide2-chat-step-1">
            <a:extLst xmlns:a="http://schemas.openxmlformats.org/drawingml/2006/main">
              <a:ext uri="{FF2B5EF4-FFF2-40B4-BE49-F238E27FC236}">
                <a16:creationId xmlns:a16="http://schemas.microsoft.com/office/drawing/2014/main" id="{D30484B0-D803-4261-8EDB-EEB1499A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62250"/>
            <a:ext cx="51435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运维人员描述现象和时间范围</a:t>
            </a:r>
          </a:p>
        </p:txBody>
      </p:sp>
      <p:sp>
        <p:nvSpPr>
          <p:cNvPr id="14" name="rewrite-slide2-auto-circle-2">
            <a:extLst xmlns:a="http://schemas.openxmlformats.org/drawingml/2006/main">
              <a:ext uri="{FF2B5EF4-FFF2-40B4-BE49-F238E27FC236}">
                <a16:creationId xmlns:a16="http://schemas.microsoft.com/office/drawing/2014/main" id="{05342A63-CC38-4737-B427-D542EF95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rewrite-slide2-auto-number-2">
            <a:extLst xmlns:a="http://schemas.openxmlformats.org/drawingml/2006/main">
              <a:ext uri="{FF2B5EF4-FFF2-40B4-BE49-F238E27FC236}">
                <a16:creationId xmlns:a16="http://schemas.microsoft.com/office/drawing/2014/main" id="{914F7CA6-BFEE-466D-9795-47964067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90900"/>
            <a:ext cx="11496675" cy="346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  <p:sp>
        <p:nvSpPr>
          <p:cNvPr id="16" name="rewrite-slide2-auto-step-2">
            <a:extLst xmlns:a="http://schemas.openxmlformats.org/drawingml/2006/main">
              <a:ext uri="{FF2B5EF4-FFF2-40B4-BE49-F238E27FC236}">
                <a16:creationId xmlns:a16="http://schemas.microsoft.com/office/drawing/2014/main" id="{A901E739-4B53-4F73-B202-BEF52F7A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43275"/>
            <a:ext cx="11087100" cy="3514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规则识别掉束、衰减或恒流中断</a:t>
            </a:r>
          </a:p>
        </p:txBody>
      </p:sp>
      <p:sp>
        <p:nvSpPr>
          <p:cNvPr id="17" name="rewrite-slide2-chat-circle-2">
            <a:extLst xmlns:a="http://schemas.openxmlformats.org/drawingml/2006/main">
              <a:ext uri="{FF2B5EF4-FFF2-40B4-BE49-F238E27FC236}">
                <a16:creationId xmlns:a16="http://schemas.microsoft.com/office/drawing/2014/main" id="{8E9595CA-9DE5-42AB-A77C-21BB985B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051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rewrite-slide2-chat-number-2">
            <a:extLst xmlns:a="http://schemas.openxmlformats.org/drawingml/2006/main">
              <a:ext uri="{FF2B5EF4-FFF2-40B4-BE49-F238E27FC236}">
                <a16:creationId xmlns:a16="http://schemas.microsoft.com/office/drawing/2014/main" id="{1664F9DC-4DD9-48D6-B221-C571E9DF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390900"/>
            <a:ext cx="5553075" cy="346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  <p:sp>
        <p:nvSpPr>
          <p:cNvPr id="19" name="rewrite-slide2-chat-step-2">
            <a:extLst xmlns:a="http://schemas.openxmlformats.org/drawingml/2006/main">
              <a:ext uri="{FF2B5EF4-FFF2-40B4-BE49-F238E27FC236}">
                <a16:creationId xmlns:a16="http://schemas.microsoft.com/office/drawing/2014/main" id="{7CE003F3-CC32-40E1-858E-8353BD8A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43275"/>
            <a:ext cx="5143500" cy="3514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HarnessAgent 理解意图并选择 Skill</a:t>
            </a:r>
          </a:p>
        </p:txBody>
      </p:sp>
      <p:sp>
        <p:nvSpPr>
          <p:cNvPr id="20" name="rewrite-slide2-auto-circle-3">
            <a:extLst xmlns:a="http://schemas.openxmlformats.org/drawingml/2006/main">
              <a:ext uri="{FF2B5EF4-FFF2-40B4-BE49-F238E27FC236}">
                <a16:creationId xmlns:a16="http://schemas.microsoft.com/office/drawing/2014/main" id="{E62AF025-5D09-4FF1-AAF8-6CD08D46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rewrite-slide2-auto-number-3">
            <a:extLst xmlns:a="http://schemas.openxmlformats.org/drawingml/2006/main">
              <a:ext uri="{FF2B5EF4-FFF2-40B4-BE49-F238E27FC236}">
                <a16:creationId xmlns:a16="http://schemas.microsoft.com/office/drawing/2014/main" id="{1F961395-0E2C-41BF-9BF3-EAE6AB2F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71925"/>
            <a:ext cx="11496675" cy="2886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  <p:sp>
        <p:nvSpPr>
          <p:cNvPr id="22" name="rewrite-slide2-auto-step-3">
            <a:extLst xmlns:a="http://schemas.openxmlformats.org/drawingml/2006/main">
              <a:ext uri="{FF2B5EF4-FFF2-40B4-BE49-F238E27FC236}">
                <a16:creationId xmlns:a16="http://schemas.microsoft.com/office/drawing/2014/main" id="{5AE2AC50-F144-4330-B986-72437765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24300"/>
            <a:ext cx="11087100" cy="293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合并同一事件并持续判断恢复</a:t>
            </a:r>
          </a:p>
        </p:txBody>
      </p:sp>
      <p:sp>
        <p:nvSpPr>
          <p:cNvPr id="23" name="rewrite-slide2-chat-circle-3">
            <a:extLst xmlns:a="http://schemas.openxmlformats.org/drawingml/2006/main">
              <a:ext uri="{FF2B5EF4-FFF2-40B4-BE49-F238E27FC236}">
                <a16:creationId xmlns:a16="http://schemas.microsoft.com/office/drawing/2014/main" id="{534845A8-4E66-4A8D-8554-0A95E380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86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rewrite-slide2-chat-number-3">
            <a:extLst xmlns:a="http://schemas.openxmlformats.org/drawingml/2006/main">
              <a:ext uri="{FF2B5EF4-FFF2-40B4-BE49-F238E27FC236}">
                <a16:creationId xmlns:a16="http://schemas.microsoft.com/office/drawing/2014/main" id="{AABA47B4-21D6-4924-AFBA-B67FFF18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1925"/>
            <a:ext cx="5553075" cy="2886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  <p:sp>
        <p:nvSpPr>
          <p:cNvPr id="25" name="rewrite-slide2-chat-step-3">
            <a:extLst xmlns:a="http://schemas.openxmlformats.org/drawingml/2006/main">
              <a:ext uri="{FF2B5EF4-FFF2-40B4-BE49-F238E27FC236}">
                <a16:creationId xmlns:a16="http://schemas.microsoft.com/office/drawing/2014/main" id="{F43B3D31-1E4D-4FEE-8DB4-674AA09E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24300"/>
            <a:ext cx="5143500" cy="293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根据返回证据继续追查或结束</a:t>
            </a:r>
          </a:p>
        </p:txBody>
      </p:sp>
      <p:sp>
        <p:nvSpPr>
          <p:cNvPr id="26" name="rewrite-slide2-auto-circle-4">
            <a:extLst xmlns:a="http://schemas.openxmlformats.org/drawingml/2006/main">
              <a:ext uri="{FF2B5EF4-FFF2-40B4-BE49-F238E27FC236}">
                <a16:creationId xmlns:a16="http://schemas.microsoft.com/office/drawing/2014/main" id="{F18CB205-0181-405F-8438-62C25DEE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rewrite-slide2-auto-number-4">
            <a:extLst xmlns:a="http://schemas.openxmlformats.org/drawingml/2006/main">
              <a:ext uri="{FF2B5EF4-FFF2-40B4-BE49-F238E27FC236}">
                <a16:creationId xmlns:a16="http://schemas.microsoft.com/office/drawing/2014/main" id="{B01FFC27-C6B9-4CCB-9E71-EE34D78F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52950"/>
            <a:ext cx="11496675" cy="2305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4</a:t>
            </a:r>
          </a:p>
        </p:txBody>
      </p:sp>
      <p:sp>
        <p:nvSpPr>
          <p:cNvPr id="28" name="rewrite-slide2-auto-step-4">
            <a:extLst xmlns:a="http://schemas.openxmlformats.org/drawingml/2006/main">
              <a:ext uri="{FF2B5EF4-FFF2-40B4-BE49-F238E27FC236}">
                <a16:creationId xmlns:a16="http://schemas.microsoft.com/office/drawing/2014/main" id="{8A806895-DA4C-4C88-9AFC-078A754B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05325"/>
            <a:ext cx="11087100" cy="2352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生成报告，需要时发送通知</a:t>
            </a:r>
          </a:p>
        </p:txBody>
      </p:sp>
      <p:sp>
        <p:nvSpPr>
          <p:cNvPr id="29" name="rewrite-slide2-chat-circle-4">
            <a:extLst xmlns:a="http://schemas.openxmlformats.org/drawingml/2006/main">
              <a:ext uri="{FF2B5EF4-FFF2-40B4-BE49-F238E27FC236}">
                <a16:creationId xmlns:a16="http://schemas.microsoft.com/office/drawing/2014/main" id="{72626744-BE83-4BB2-8F8C-47AF4B23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672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rewrite-slide2-chat-number-4">
            <a:extLst xmlns:a="http://schemas.openxmlformats.org/drawingml/2006/main">
              <a:ext uri="{FF2B5EF4-FFF2-40B4-BE49-F238E27FC236}">
                <a16:creationId xmlns:a16="http://schemas.microsoft.com/office/drawing/2014/main" id="{B3B2604F-70F3-4E9E-8E50-3D6E621F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52950"/>
            <a:ext cx="5553075" cy="2305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4</a:t>
            </a:r>
          </a:p>
        </p:txBody>
      </p:sp>
      <p:sp>
        <p:nvSpPr>
          <p:cNvPr id="31" name="rewrite-slide2-chat-step-4">
            <a:extLst xmlns:a="http://schemas.openxmlformats.org/drawingml/2006/main">
              <a:ext uri="{FF2B5EF4-FFF2-40B4-BE49-F238E27FC236}">
                <a16:creationId xmlns:a16="http://schemas.microsoft.com/office/drawing/2014/main" id="{C26193D5-C70F-41A7-B851-6508E2AD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05325"/>
            <a:ext cx="5143500" cy="2352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形成可追问的解释和处置建议</a:t>
            </a:r>
          </a:p>
        </p:txBody>
      </p:sp>
      <p:sp>
        <p:nvSpPr>
          <p:cNvPr id="32" name="rewrite-slide2-auto-value">
            <a:extLst xmlns:a="http://schemas.openxmlformats.org/drawingml/2006/main">
              <a:ext uri="{FF2B5EF4-FFF2-40B4-BE49-F238E27FC236}">
                <a16:creationId xmlns:a16="http://schemas.microsoft.com/office/drawing/2014/main" id="{98FBE4E5-FFBD-4DE5-9DE3-40FFB3DC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9675"/>
            <a:ext cx="11639550" cy="1838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优势：持续发现异常、执行稳定、无需等待人工提问</a:t>
            </a:r>
          </a:p>
        </p:txBody>
      </p:sp>
      <p:sp>
        <p:nvSpPr>
          <p:cNvPr id="33" name="rewrite-slide2-chat-value">
            <a:extLst xmlns:a="http://schemas.openxmlformats.org/drawingml/2006/main">
              <a:ext uri="{FF2B5EF4-FFF2-40B4-BE49-F238E27FC236}">
                <a16:creationId xmlns:a16="http://schemas.microsoft.com/office/drawing/2014/main" id="{DFA4A987-10C9-4146-AB6B-E0EDF45C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9675"/>
            <a:ext cx="5695950" cy="1838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优势：适合复杂问题、支持多轮追问、解释更有针对性</a:t>
            </a:r>
          </a:p>
        </p:txBody>
      </p:sp>
      <p:sp>
        <p:nvSpPr>
          <p:cNvPr id="34" name="rewrite-slide2-shared-band">
            <a:extLst xmlns:a="http://schemas.openxmlformats.org/drawingml/2006/main">
              <a:ext uri="{FF2B5EF4-FFF2-40B4-BE49-F238E27FC236}">
                <a16:creationId xmlns:a16="http://schemas.microsoft.com/office/drawing/2014/main" id="{E6D914A2-2F65-46E2-91DC-29B7A92D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35" name="rewrite-slide2-shared-text">
            <a:extLst xmlns:a="http://schemas.openxmlformats.org/drawingml/2006/main">
              <a:ext uri="{FF2B5EF4-FFF2-40B4-BE49-F238E27FC236}">
                <a16:creationId xmlns:a16="http://schemas.microsoft.com/office/drawing/2014/main" id="{0C58FC0C-4467-4A99-89FD-F3942E9E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81675"/>
            <a:ext cx="11544300" cy="1076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共同底座：共享诊断数据、规则和 Skill；统一输出 observation、evidence 与候选原因，并保留完整诊断记录</a:t>
            </a:r>
          </a:p>
        </p:txBody>
      </p:sp>
      <p:sp>
        <p:nvSpPr>
          <p:cNvPr id="36" name="page-2">
            <a:extLst xmlns:a="http://schemas.openxmlformats.org/drawingml/2006/main">
              <a:ext uri="{FF2B5EF4-FFF2-40B4-BE49-F238E27FC236}">
                <a16:creationId xmlns:a16="http://schemas.microsoft.com/office/drawing/2014/main" id="{20DAC2C1-0334-4989-B80C-6CB09071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9334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464930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ewrite-slide3-title">
            <a:extLst xmlns:a="http://schemas.openxmlformats.org/drawingml/2006/main">
              <a:ext uri="{FF2B5EF4-FFF2-40B4-BE49-F238E27FC236}">
                <a16:creationId xmlns:a16="http://schemas.microsoft.com/office/drawing/2014/main" id="{929B0EAC-9F38-4E5B-812B-CF02AEF5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791950" cy="653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Skill 把诊断知识拆成可组合、可复用的能力单元</a:t>
            </a:r>
          </a:p>
        </p:txBody>
      </p:sp>
      <p:sp>
        <p:nvSpPr>
          <p:cNvPr id="2" name="rewrite-slide3-subtitle">
            <a:extLst xmlns:a="http://schemas.openxmlformats.org/drawingml/2006/main">
              <a:ext uri="{FF2B5EF4-FFF2-40B4-BE49-F238E27FC236}">
                <a16:creationId xmlns:a16="http://schemas.microsoft.com/office/drawing/2014/main" id="{2AB2A345-40A1-491E-B139-D654A666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791950" cy="575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统一逻辑是：接收上下文 → 调用数据与规则 → 输出证据 → 建议下一步诊断。</a:t>
            </a:r>
          </a:p>
        </p:txBody>
      </p:sp>
      <p:sp>
        <p:nvSpPr>
          <p:cNvPr id="3" name="rewrite-slide3-logic-title">
            <a:extLst xmlns:a="http://schemas.openxmlformats.org/drawingml/2006/main">
              <a:ext uri="{FF2B5EF4-FFF2-40B4-BE49-F238E27FC236}">
                <a16:creationId xmlns:a16="http://schemas.microsoft.com/office/drawing/2014/main" id="{F4677F48-2538-4F6D-87AD-8B243E29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791950" cy="516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每个 Skill 都遵循同一诊断结构</a:t>
            </a:r>
          </a:p>
        </p:txBody>
      </p:sp>
      <p:sp>
        <p:nvSpPr>
          <p:cNvPr id="4" name="rewrite-slide3-logic-line">
            <a:extLst xmlns:a="http://schemas.openxmlformats.org/drawingml/2006/main">
              <a:ext uri="{FF2B5EF4-FFF2-40B4-BE49-F238E27FC236}">
                <a16:creationId xmlns:a16="http://schemas.microsoft.com/office/drawing/2014/main" id="{85A3F272-7095-452E-A74C-FCC980F2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5" name="rewrite-slide3-logic-node-1">
            <a:extLst xmlns:a="http://schemas.openxmlformats.org/drawingml/2006/main">
              <a:ext uri="{FF2B5EF4-FFF2-40B4-BE49-F238E27FC236}">
                <a16:creationId xmlns:a16="http://schemas.microsoft.com/office/drawing/2014/main" id="{5D787079-FA27-4D5E-91DD-5D85008C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" name="rewrite-slide3-logic-number-1">
            <a:extLst xmlns:a="http://schemas.openxmlformats.org/drawingml/2006/main">
              <a:ext uri="{FF2B5EF4-FFF2-40B4-BE49-F238E27FC236}">
                <a16:creationId xmlns:a16="http://schemas.microsoft.com/office/drawing/2014/main" id="{60EF6AA7-36C1-4D6C-ADA1-091C802A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62225"/>
            <a:ext cx="114490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7" name="rewrite-slide3-logic-step-title-1">
            <a:extLst xmlns:a="http://schemas.openxmlformats.org/drawingml/2006/main">
              <a:ext uri="{FF2B5EF4-FFF2-40B4-BE49-F238E27FC236}">
                <a16:creationId xmlns:a16="http://schemas.microsoft.com/office/drawing/2014/main" id="{8580AEF6-2F93-45B0-9CA3-0F9F83F9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1639550" cy="3724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接收上下文</a:t>
            </a:r>
          </a:p>
        </p:txBody>
      </p:sp>
      <p:sp>
        <p:nvSpPr>
          <p:cNvPr id="8" name="rewrite-slide3-logic-step-body-1">
            <a:extLst xmlns:a="http://schemas.openxmlformats.org/drawingml/2006/main">
              <a:ext uri="{FF2B5EF4-FFF2-40B4-BE49-F238E27FC236}">
                <a16:creationId xmlns:a16="http://schemas.microsoft.com/office/drawing/2014/main" id="{E9DD3468-88CB-457C-AF39-B51EAECC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14725"/>
            <a:ext cx="11639550" cy="3343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时间范围与诊断对象
以及已有证据</a:t>
            </a:r>
          </a:p>
        </p:txBody>
      </p:sp>
      <p:sp>
        <p:nvSpPr>
          <p:cNvPr id="9" name="rewrite-slide3-logic-node-2">
            <a:extLst xmlns:a="http://schemas.openxmlformats.org/drawingml/2006/main">
              <a:ext uri="{FF2B5EF4-FFF2-40B4-BE49-F238E27FC236}">
                <a16:creationId xmlns:a16="http://schemas.microsoft.com/office/drawing/2014/main" id="{74EB4D0F-2724-4E49-8FD1-D5407B2E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43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rewrite-slide3-logic-number-2">
            <a:extLst xmlns:a="http://schemas.openxmlformats.org/drawingml/2006/main">
              <a:ext uri="{FF2B5EF4-FFF2-40B4-BE49-F238E27FC236}">
                <a16:creationId xmlns:a16="http://schemas.microsoft.com/office/drawing/2014/main" id="{FB91F60D-5397-4F55-A7FF-F87D68FC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62225"/>
            <a:ext cx="8667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1" name="rewrite-slide3-logic-step-title-2">
            <a:extLst xmlns:a="http://schemas.openxmlformats.org/drawingml/2006/main">
              <a:ext uri="{FF2B5EF4-FFF2-40B4-BE49-F238E27FC236}">
                <a16:creationId xmlns:a16="http://schemas.microsoft.com/office/drawing/2014/main" id="{DCE92764-5531-4669-839D-26F25FBD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33725"/>
            <a:ext cx="8858250" cy="3724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调用能力</a:t>
            </a:r>
          </a:p>
        </p:txBody>
      </p:sp>
      <p:sp>
        <p:nvSpPr>
          <p:cNvPr id="12" name="rewrite-slide3-logic-step-body-2">
            <a:extLst xmlns:a="http://schemas.openxmlformats.org/drawingml/2006/main">
              <a:ext uri="{FF2B5EF4-FFF2-40B4-BE49-F238E27FC236}">
                <a16:creationId xmlns:a16="http://schemas.microsoft.com/office/drawing/2014/main" id="{CBE5BBDE-90BF-4E60-B86A-2CCFA909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14725"/>
            <a:ext cx="8858250" cy="3343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查询只读数据
执行领域规则与特征分析</a:t>
            </a:r>
          </a:p>
        </p:txBody>
      </p:sp>
      <p:sp>
        <p:nvSpPr>
          <p:cNvPr id="13" name="rewrite-slide3-logic-node-3">
            <a:extLst xmlns:a="http://schemas.openxmlformats.org/drawingml/2006/main">
              <a:ext uri="{FF2B5EF4-FFF2-40B4-BE49-F238E27FC236}">
                <a16:creationId xmlns:a16="http://schemas.microsoft.com/office/drawing/2014/main" id="{A88672F3-632A-4204-9840-6AD8C8D0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43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4" name="rewrite-slide3-logic-number-3">
            <a:extLst xmlns:a="http://schemas.openxmlformats.org/drawingml/2006/main">
              <a:ext uri="{FF2B5EF4-FFF2-40B4-BE49-F238E27FC236}">
                <a16:creationId xmlns:a16="http://schemas.microsoft.com/office/drawing/2014/main" id="{C7EE4A53-510E-44FB-A46E-15D45451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62225"/>
            <a:ext cx="58864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5" name="rewrite-slide3-logic-step-title-3">
            <a:extLst xmlns:a="http://schemas.openxmlformats.org/drawingml/2006/main">
              <a:ext uri="{FF2B5EF4-FFF2-40B4-BE49-F238E27FC236}">
                <a16:creationId xmlns:a16="http://schemas.microsoft.com/office/drawing/2014/main" id="{00642434-A935-457D-BA8D-B0EAB3F1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33725"/>
            <a:ext cx="6076950" cy="3724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形成结果</a:t>
            </a:r>
          </a:p>
        </p:txBody>
      </p:sp>
      <p:sp>
        <p:nvSpPr>
          <p:cNvPr id="16" name="rewrite-slide3-logic-step-body-3">
            <a:extLst xmlns:a="http://schemas.openxmlformats.org/drawingml/2006/main">
              <a:ext uri="{FF2B5EF4-FFF2-40B4-BE49-F238E27FC236}">
                <a16:creationId xmlns:a16="http://schemas.microsoft.com/office/drawing/2014/main" id="{1A8EFCC5-EA29-43E3-8CA3-5DC23BA0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14725"/>
            <a:ext cx="6076950" cy="3343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输出诊断现象
事实证据与候选原因</a:t>
            </a:r>
          </a:p>
        </p:txBody>
      </p:sp>
      <p:sp>
        <p:nvSpPr>
          <p:cNvPr id="17" name="rewrite-slide3-logic-node-4">
            <a:extLst xmlns:a="http://schemas.openxmlformats.org/drawingml/2006/main">
              <a:ext uri="{FF2B5EF4-FFF2-40B4-BE49-F238E27FC236}">
                <a16:creationId xmlns:a16="http://schemas.microsoft.com/office/drawing/2014/main" id="{D04B1437-A190-46F1-80F0-FAC5D6E4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43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8" name="rewrite-slide3-logic-number-4">
            <a:extLst xmlns:a="http://schemas.openxmlformats.org/drawingml/2006/main">
              <a:ext uri="{FF2B5EF4-FFF2-40B4-BE49-F238E27FC236}">
                <a16:creationId xmlns:a16="http://schemas.microsoft.com/office/drawing/2014/main" id="{AFF224A1-F04A-4CCE-B133-483F31E2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62225"/>
            <a:ext cx="31051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9" name="rewrite-slide3-logic-step-title-4">
            <a:extLst xmlns:a="http://schemas.openxmlformats.org/drawingml/2006/main">
              <a:ext uri="{FF2B5EF4-FFF2-40B4-BE49-F238E27FC236}">
                <a16:creationId xmlns:a16="http://schemas.microsoft.com/office/drawing/2014/main" id="{79244D19-32DD-499E-B947-78E917E1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33725"/>
            <a:ext cx="3295650" cy="3724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建议下一步</a:t>
            </a:r>
          </a:p>
        </p:txBody>
      </p:sp>
      <p:sp>
        <p:nvSpPr>
          <p:cNvPr id="20" name="rewrite-slide3-logic-step-body-4">
            <a:extLst xmlns:a="http://schemas.openxmlformats.org/drawingml/2006/main">
              <a:ext uri="{FF2B5EF4-FFF2-40B4-BE49-F238E27FC236}">
                <a16:creationId xmlns:a16="http://schemas.microsoft.com/office/drawing/2014/main" id="{752A331D-FAA0-4453-B992-27CC5DFD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14725"/>
            <a:ext cx="3295650" cy="3343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证据充分则结束
否则推荐后续 Skill</a:t>
            </a:r>
          </a:p>
        </p:txBody>
      </p:sp>
      <p:sp>
        <p:nvSpPr>
          <p:cNvPr id="21" name="rewrite-slide3-bottom-divider">
            <a:extLst xmlns:a="http://schemas.openxmlformats.org/drawingml/2006/main">
              <a:ext uri="{FF2B5EF4-FFF2-40B4-BE49-F238E27FC236}">
                <a16:creationId xmlns:a16="http://schemas.microsoft.com/office/drawing/2014/main" id="{5B65D00D-B36E-420D-8EBA-5885C6D0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rewrite-slide3-beam-title">
            <a:extLst xmlns:a="http://schemas.openxmlformats.org/drawingml/2006/main">
              <a:ext uri="{FF2B5EF4-FFF2-40B4-BE49-F238E27FC236}">
                <a16:creationId xmlns:a16="http://schemas.microsoft.com/office/drawing/2014/main" id="{0161F365-507F-471D-A746-C97DB193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1179195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束流诊断链</a:t>
            </a:r>
          </a:p>
        </p:txBody>
      </p:sp>
      <p:sp>
        <p:nvSpPr>
          <p:cNvPr id="23" name="rewrite-slide3-beam-step-1">
            <a:extLst xmlns:a="http://schemas.openxmlformats.org/drawingml/2006/main">
              <a:ext uri="{FF2B5EF4-FFF2-40B4-BE49-F238E27FC236}">
                <a16:creationId xmlns:a16="http://schemas.microsoft.com/office/drawing/2014/main" id="{110B9BB8-7C38-4D8F-B687-619DF951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1179195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束流状态识别</a:t>
            </a:r>
          </a:p>
        </p:txBody>
      </p:sp>
      <p:sp>
        <p:nvSpPr>
          <p:cNvPr id="24" name="rewrite-slide3-beam-step-1-body">
            <a:extLst xmlns:a="http://schemas.openxmlformats.org/drawingml/2006/main">
              <a:ext uri="{FF2B5EF4-FFF2-40B4-BE49-F238E27FC236}">
                <a16:creationId xmlns:a16="http://schemas.microsoft.com/office/drawing/2014/main" id="{519A3F5A-3879-44D6-A71D-4958D163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117919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识别正常、掉束、衰减或恒流中断</a:t>
            </a:r>
          </a:p>
        </p:txBody>
      </p:sp>
      <p:sp>
        <p:nvSpPr>
          <p:cNvPr id="25" name="rewrite-slide3-beam-arrow">
            <a:extLst xmlns:a="http://schemas.openxmlformats.org/drawingml/2006/main">
              <a:ext uri="{FF2B5EF4-FFF2-40B4-BE49-F238E27FC236}">
                <a16:creationId xmlns:a16="http://schemas.microsoft.com/office/drawing/2014/main" id="{53E24AE8-7F1F-45F1-997C-7955378D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229225"/>
            <a:ext cx="9744075" cy="1628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6" name="rewrite-slide3-beam-step-2">
            <a:extLst xmlns:a="http://schemas.openxmlformats.org/drawingml/2006/main">
              <a:ext uri="{FF2B5EF4-FFF2-40B4-BE49-F238E27FC236}">
                <a16:creationId xmlns:a16="http://schemas.microsoft.com/office/drawing/2014/main" id="{2B670D46-09CB-40F8-B0C6-09501DD5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86350"/>
            <a:ext cx="929640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根据现象继续排查</a:t>
            </a:r>
          </a:p>
        </p:txBody>
      </p:sp>
      <p:sp>
        <p:nvSpPr>
          <p:cNvPr id="27" name="rewrite-slide3-beam-step-2-body">
            <a:extLst xmlns:a="http://schemas.openxmlformats.org/drawingml/2006/main">
              <a:ext uri="{FF2B5EF4-FFF2-40B4-BE49-F238E27FC236}">
                <a16:creationId xmlns:a16="http://schemas.microsoft.com/office/drawing/2014/main" id="{81A83E92-AB15-45B9-9CDE-1F1B9612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929640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衰减原因分析
四极铁电源排查</a:t>
            </a:r>
          </a:p>
        </p:txBody>
      </p:sp>
      <p:sp>
        <p:nvSpPr>
          <p:cNvPr id="28" name="rewrite-slide3-domain-divider">
            <a:extLst xmlns:a="http://schemas.openxmlformats.org/drawingml/2006/main">
              <a:ext uri="{FF2B5EF4-FFF2-40B4-BE49-F238E27FC236}">
                <a16:creationId xmlns:a16="http://schemas.microsoft.com/office/drawing/2014/main" id="{37EBBD9F-BB34-4D42-93E0-6192018A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91050"/>
            <a:ext cx="95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9" name="rewrite-slide3-pss-title">
            <a:extLst xmlns:a="http://schemas.openxmlformats.org/drawingml/2006/main">
              <a:ext uri="{FF2B5EF4-FFF2-40B4-BE49-F238E27FC236}">
                <a16:creationId xmlns:a16="http://schemas.microsoft.com/office/drawing/2014/main" id="{5E8A8D39-2437-4469-94F0-B3AF946E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91050"/>
            <a:ext cx="584835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PSS 联锁诊断链</a:t>
            </a:r>
          </a:p>
        </p:txBody>
      </p:sp>
      <p:sp>
        <p:nvSpPr>
          <p:cNvPr id="30" name="rewrite-slide3-pss-step-1">
            <a:extLst xmlns:a="http://schemas.openxmlformats.org/drawingml/2006/main">
              <a:ext uri="{FF2B5EF4-FFF2-40B4-BE49-F238E27FC236}">
                <a16:creationId xmlns:a16="http://schemas.microsoft.com/office/drawing/2014/main" id="{15875543-FB04-488A-A097-016B3FA6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86350"/>
            <a:ext cx="584835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识别联锁状态变化</a:t>
            </a:r>
          </a:p>
        </p:txBody>
      </p:sp>
      <p:sp>
        <p:nvSpPr>
          <p:cNvPr id="31" name="rewrite-slide3-pss-step-1-body">
            <a:extLst xmlns:a="http://schemas.openxmlformats.org/drawingml/2006/main">
              <a:ext uri="{FF2B5EF4-FFF2-40B4-BE49-F238E27FC236}">
                <a16:creationId xmlns:a16="http://schemas.microsoft.com/office/drawing/2014/main" id="{51B68485-F87C-4D8C-BA91-EAF16685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10200"/>
            <a:ext cx="58483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确认 interlocked → unlocked
状态变化</a:t>
            </a:r>
          </a:p>
        </p:txBody>
      </p:sp>
      <p:sp>
        <p:nvSpPr>
          <p:cNvPr id="32" name="rewrite-slide3-pss-arrow">
            <a:extLst xmlns:a="http://schemas.openxmlformats.org/drawingml/2006/main">
              <a:ext uri="{FF2B5EF4-FFF2-40B4-BE49-F238E27FC236}">
                <a16:creationId xmlns:a16="http://schemas.microsoft.com/office/drawing/2014/main" id="{D39D0C55-639C-4CC6-8CE1-4F598DBA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229225"/>
            <a:ext cx="3609975" cy="1628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33" name="rewrite-slide3-pss-step-2">
            <a:extLst xmlns:a="http://schemas.openxmlformats.org/drawingml/2006/main">
              <a:ext uri="{FF2B5EF4-FFF2-40B4-BE49-F238E27FC236}">
                <a16:creationId xmlns:a16="http://schemas.microsoft.com/office/drawing/2014/main" id="{59E5EDB8-9067-44AE-8558-35C7F19B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86350"/>
            <a:ext cx="316230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回溯相关状态信号</a:t>
            </a:r>
          </a:p>
        </p:txBody>
      </p:sp>
      <p:sp>
        <p:nvSpPr>
          <p:cNvPr id="34" name="rewrite-slide3-pss-step-2-body">
            <a:extLst xmlns:a="http://schemas.openxmlformats.org/drawingml/2006/main">
              <a:ext uri="{FF2B5EF4-FFF2-40B4-BE49-F238E27FC236}">
                <a16:creationId xmlns:a16="http://schemas.microsoft.com/office/drawing/2014/main" id="{B5036495-BF89-49FA-ABB2-6F15580B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10200"/>
            <a:ext cx="316230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回溯门、急停、剂量、PLC/IO
等信号，定位主要原因</a:t>
            </a:r>
          </a:p>
        </p:txBody>
      </p:sp>
      <p:sp>
        <p:nvSpPr>
          <p:cNvPr id="35" name="rewrite-slide3-value">
            <a:extLst xmlns:a="http://schemas.openxmlformats.org/drawingml/2006/main">
              <a:ext uri="{FF2B5EF4-FFF2-40B4-BE49-F238E27FC236}">
                <a16:creationId xmlns:a16="http://schemas.microsoft.com/office/drawing/2014/main" id="{04005130-6AD5-4B8E-8A2A-B3FA13EE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791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价值：诊断知识可复用、能力可组合、结果可验证，新故障类型可以按相同结构继续扩展</a:t>
            </a:r>
          </a:p>
        </p:txBody>
      </p:sp>
      <p:sp>
        <p:nvSpPr>
          <p:cNvPr id="36" name="page-3">
            <a:extLst xmlns:a="http://schemas.openxmlformats.org/drawingml/2006/main">
              <a:ext uri="{FF2B5EF4-FFF2-40B4-BE49-F238E27FC236}">
                <a16:creationId xmlns:a16="http://schemas.microsoft.com/office/drawing/2014/main" id="{AFF01F10-8D64-4306-B06C-4F590914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9334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910454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comparison-slide4-title">
            <a:extLst xmlns:a="http://schemas.openxmlformats.org/drawingml/2006/main">
              <a:ext uri="{FF2B5EF4-FFF2-40B4-BE49-F238E27FC236}">
                <a16:creationId xmlns:a16="http://schemas.microsoft.com/office/drawing/2014/main" id="{FB88F0B2-8EC4-4514-85BB-5EA70030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791950" cy="653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两种 Agent 关注点不同：概率归因与诊断工程化</a:t>
            </a:r>
          </a:p>
        </p:txBody>
      </p:sp>
      <p:sp>
        <p:nvSpPr>
          <p:cNvPr id="2" name="comparison-slide4-subtitle">
            <a:extLst xmlns:a="http://schemas.openxmlformats.org/drawingml/2006/main">
              <a:ext uri="{FF2B5EF4-FFF2-40B4-BE49-F238E27FC236}">
                <a16:creationId xmlns:a16="http://schemas.microsoft.com/office/drawing/2014/main" id="{49751002-FA06-4CDC-BDA9-26C19819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791950" cy="575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贝叶斯方案擅长在既定故障图谱中排序嫌疑；本项目更强调多场景运行、能力复用与持续扩展。</a:t>
            </a:r>
          </a:p>
        </p:txBody>
      </p:sp>
      <p:sp>
        <p:nvSpPr>
          <p:cNvPr id="3" name="comparison-slide4-divider">
            <a:extLst xmlns:a="http://schemas.openxmlformats.org/drawingml/2006/main">
              <a:ext uri="{FF2B5EF4-FFF2-40B4-BE49-F238E27FC236}">
                <a16:creationId xmlns:a16="http://schemas.microsoft.com/office/drawing/2014/main" id="{8D2E7F4A-9D29-4F58-82BE-C162F770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95450"/>
            <a:ext cx="190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comparison-slide4-left-title">
            <a:extLst xmlns:a="http://schemas.openxmlformats.org/drawingml/2006/main">
              <a:ext uri="{FF2B5EF4-FFF2-40B4-BE49-F238E27FC236}">
                <a16:creationId xmlns:a16="http://schemas.microsoft.com/office/drawing/2014/main" id="{F40DE73A-5333-4935-AEEA-E79D9796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639550" cy="510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PPT 中的 Agent</a:t>
            </a:r>
          </a:p>
        </p:txBody>
      </p:sp>
      <p:sp>
        <p:nvSpPr>
          <p:cNvPr id="5" name="comparison-slide4-left-tagline">
            <a:extLst xmlns:a="http://schemas.openxmlformats.org/drawingml/2006/main">
              <a:ext uri="{FF2B5EF4-FFF2-40B4-BE49-F238E27FC236}">
                <a16:creationId xmlns:a16="http://schemas.microsoft.com/office/drawing/2014/main" id="{A8C430DA-9723-4F16-9E9E-0E842CCE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0275"/>
            <a:ext cx="11639550" cy="4657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贝叶斯网络 + Main Agent / Subagent</a:t>
            </a:r>
          </a:p>
        </p:txBody>
      </p:sp>
      <p:sp>
        <p:nvSpPr>
          <p:cNvPr id="6" name="comparison-slide4-right-title">
            <a:extLst xmlns:a="http://schemas.openxmlformats.org/drawingml/2006/main">
              <a:ext uri="{FF2B5EF4-FFF2-40B4-BE49-F238E27FC236}">
                <a16:creationId xmlns:a16="http://schemas.microsoft.com/office/drawing/2014/main" id="{96625E32-8159-415B-9C83-2E15BC46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5695950" cy="510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本项目的 HarnessAgent</a:t>
            </a:r>
          </a:p>
        </p:txBody>
      </p:sp>
      <p:sp>
        <p:nvSpPr>
          <p:cNvPr id="7" name="comparison-slide4-right-tagline">
            <a:extLst xmlns:a="http://schemas.openxmlformats.org/drawingml/2006/main">
              <a:ext uri="{FF2B5EF4-FFF2-40B4-BE49-F238E27FC236}">
                <a16:creationId xmlns:a16="http://schemas.microsoft.com/office/drawing/2014/main" id="{2E75E346-F82E-408B-9B8C-3599A105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00275"/>
            <a:ext cx="5695950" cy="4657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统一编排框架 + 可组合诊断 Skill</a:t>
            </a:r>
          </a:p>
        </p:txBody>
      </p:sp>
      <p:sp>
        <p:nvSpPr>
          <p:cNvPr id="8" name="comparison-slide4-left-label-1">
            <a:extLst xmlns:a="http://schemas.openxmlformats.org/drawingml/2006/main">
              <a:ext uri="{FF2B5EF4-FFF2-40B4-BE49-F238E27FC236}">
                <a16:creationId xmlns:a16="http://schemas.microsoft.com/office/drawing/2014/main" id="{E183989A-657A-4C32-B997-88881CF7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11639550" cy="417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推理核心</a:t>
            </a:r>
          </a:p>
        </p:txBody>
      </p:sp>
      <p:sp>
        <p:nvSpPr>
          <p:cNvPr id="9" name="comparison-slide4-left-body-1">
            <a:extLst xmlns:a="http://schemas.openxmlformats.org/drawingml/2006/main">
              <a:ext uri="{FF2B5EF4-FFF2-40B4-BE49-F238E27FC236}">
                <a16:creationId xmlns:a16="http://schemas.microsoft.com/office/drawing/2014/main" id="{10B93004-0742-4487-9593-A96F166E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11639550" cy="384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贝叶斯网络更新故障概率，通过剪枝与重归一化缩小嫌疑系统。</a:t>
            </a:r>
          </a:p>
        </p:txBody>
      </p:sp>
      <p:sp>
        <p:nvSpPr>
          <p:cNvPr id="10" name="comparison-slide4-left-label-2">
            <a:extLst xmlns:a="http://schemas.openxmlformats.org/drawingml/2006/main">
              <a:ext uri="{FF2B5EF4-FFF2-40B4-BE49-F238E27FC236}">
                <a16:creationId xmlns:a16="http://schemas.microsoft.com/office/drawing/2014/main" id="{C60C2B01-97E3-4FDD-B868-DBF6B4CC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86150"/>
            <a:ext cx="116395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 组织</a:t>
            </a:r>
          </a:p>
        </p:txBody>
      </p:sp>
      <p:sp>
        <p:nvSpPr>
          <p:cNvPr id="11" name="comparison-slide4-left-body-2">
            <a:extLst xmlns:a="http://schemas.openxmlformats.org/drawingml/2006/main">
              <a:ext uri="{FF2B5EF4-FFF2-40B4-BE49-F238E27FC236}">
                <a16:creationId xmlns:a16="http://schemas.microsoft.com/office/drawing/2014/main" id="{E8D783B7-2FF2-4491-AD5C-24D051DC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11639550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主 Agent 维护全局状态，动态调度面向子系统的 Subagent 完成验证。</a:t>
            </a:r>
          </a:p>
        </p:txBody>
      </p:sp>
      <p:sp>
        <p:nvSpPr>
          <p:cNvPr id="12" name="comparison-slide4-left-label-3">
            <a:extLst xmlns:a="http://schemas.openxmlformats.org/drawingml/2006/main">
              <a:ext uri="{FF2B5EF4-FFF2-40B4-BE49-F238E27FC236}">
                <a16:creationId xmlns:a16="http://schemas.microsoft.com/office/drawing/2014/main" id="{88E9334F-12B7-4B3B-9326-B26012C7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11639550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扩展方式</a:t>
            </a:r>
          </a:p>
        </p:txBody>
      </p:sp>
      <p:sp>
        <p:nvSpPr>
          <p:cNvPr id="13" name="comparison-slide4-left-body-3">
            <a:extLst xmlns:a="http://schemas.openxmlformats.org/drawingml/2006/main">
              <a:ext uri="{FF2B5EF4-FFF2-40B4-BE49-F238E27FC236}">
                <a16:creationId xmlns:a16="http://schemas.microsoft.com/office/drawing/2014/main" id="{4BE62E0B-66B6-484B-BC70-FA0E72AF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11639550" cy="224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新增系统需要补充网络节点、条件概率及相应的 Subagent 配置。</a:t>
            </a:r>
          </a:p>
        </p:txBody>
      </p:sp>
      <p:sp>
        <p:nvSpPr>
          <p:cNvPr id="14" name="comparison-slide4-right-label-1">
            <a:extLst xmlns:a="http://schemas.openxmlformats.org/drawingml/2006/main">
              <a:ext uri="{FF2B5EF4-FFF2-40B4-BE49-F238E27FC236}">
                <a16:creationId xmlns:a16="http://schemas.microsoft.com/office/drawing/2014/main" id="{A77A8EEE-6E0C-4883-BE83-C2AD2C72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86050"/>
            <a:ext cx="5695950" cy="417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推理核心</a:t>
            </a:r>
          </a:p>
        </p:txBody>
      </p:sp>
      <p:sp>
        <p:nvSpPr>
          <p:cNvPr id="15" name="comparison-slide4-right-body-1">
            <a:extLst xmlns:a="http://schemas.openxmlformats.org/drawingml/2006/main">
              <a:ext uri="{FF2B5EF4-FFF2-40B4-BE49-F238E27FC236}">
                <a16:creationId xmlns:a16="http://schemas.microsoft.com/office/drawing/2014/main" id="{4DC7C26A-046B-4BA0-95AB-75EFD77E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09900"/>
            <a:ext cx="5695950" cy="384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HarnessAgent 根据问题和已有证据选择 Skill；事实由数据与规则产生。</a:t>
            </a:r>
          </a:p>
        </p:txBody>
      </p:sp>
      <p:sp>
        <p:nvSpPr>
          <p:cNvPr id="16" name="comparison-slide4-right-label-2">
            <a:extLst xmlns:a="http://schemas.openxmlformats.org/drawingml/2006/main">
              <a:ext uri="{FF2B5EF4-FFF2-40B4-BE49-F238E27FC236}">
                <a16:creationId xmlns:a16="http://schemas.microsoft.com/office/drawing/2014/main" id="{67A909D8-F32B-4633-BD39-ADB6131F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86150"/>
            <a:ext cx="56959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 组织</a:t>
            </a:r>
          </a:p>
        </p:txBody>
      </p:sp>
      <p:sp>
        <p:nvSpPr>
          <p:cNvPr id="17" name="comparison-slide4-right-body-2">
            <a:extLst xmlns:a="http://schemas.openxmlformats.org/drawingml/2006/main">
              <a:ext uri="{FF2B5EF4-FFF2-40B4-BE49-F238E27FC236}">
                <a16:creationId xmlns:a16="http://schemas.microsoft.com/office/drawing/2014/main" id="{BFE20711-F36D-4A6B-AC22-D91CD215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10000"/>
            <a:ext cx="5695950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同一闭环串联现象识别、原因排查与结论生成，证据不足则继续诊断。</a:t>
            </a:r>
          </a:p>
        </p:txBody>
      </p:sp>
      <p:sp>
        <p:nvSpPr>
          <p:cNvPr id="18" name="comparison-slide4-right-label-3">
            <a:extLst xmlns:a="http://schemas.openxmlformats.org/drawingml/2006/main">
              <a:ext uri="{FF2B5EF4-FFF2-40B4-BE49-F238E27FC236}">
                <a16:creationId xmlns:a16="http://schemas.microsoft.com/office/drawing/2014/main" id="{A58169AB-70E3-4CF4-B5AB-CE9333FD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86250"/>
            <a:ext cx="5695950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扩展方式</a:t>
            </a:r>
          </a:p>
        </p:txBody>
      </p:sp>
      <p:sp>
        <p:nvSpPr>
          <p:cNvPr id="19" name="comparison-slide4-right-body-3">
            <a:extLst xmlns:a="http://schemas.openxmlformats.org/drawingml/2006/main">
              <a:ext uri="{FF2B5EF4-FFF2-40B4-BE49-F238E27FC236}">
                <a16:creationId xmlns:a16="http://schemas.microsoft.com/office/drawing/2014/main" id="{4CB17B3F-BE95-4428-8ED3-F80E4C07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10100"/>
            <a:ext cx="5695950" cy="224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新增故障类型主要增加 Skill，可复用现有工具、证据结构和记录体系。</a:t>
            </a:r>
          </a:p>
        </p:txBody>
      </p:sp>
      <p:sp>
        <p:nvSpPr>
          <p:cNvPr id="20" name="comparison-slide4-bottom-band">
            <a:extLst xmlns:a="http://schemas.openxmlformats.org/drawingml/2006/main">
              <a:ext uri="{FF2B5EF4-FFF2-40B4-BE49-F238E27FC236}">
                <a16:creationId xmlns:a16="http://schemas.microsoft.com/office/drawing/2014/main" id="{0F11B82E-D687-42E7-B46A-E8CD008F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11391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21" name="comparison-slide4-advantages">
            <a:extLst xmlns:a="http://schemas.openxmlformats.org/drawingml/2006/main">
              <a:ext uri="{FF2B5EF4-FFF2-40B4-BE49-F238E27FC236}">
                <a16:creationId xmlns:a16="http://schemas.microsoft.com/office/drawing/2014/main" id="{67EDE832-50CF-42D1-B63C-E52B4F46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154430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本项目优势：自动巡检 + 对话诊断双模式｜Skill 化扩展成本低｜事实与模型分工清晰｜全过程可回放</a:t>
            </a:r>
          </a:p>
        </p:txBody>
      </p:sp>
      <p:sp>
        <p:nvSpPr>
          <p:cNvPr id="22" name="comparison-slide4-extension">
            <a:extLst xmlns:a="http://schemas.openxmlformats.org/drawingml/2006/main">
              <a:ext uri="{FF2B5EF4-FFF2-40B4-BE49-F238E27FC236}">
                <a16:creationId xmlns:a16="http://schemas.microsoft.com/office/drawing/2014/main" id="{EEE62D2D-9DB9-45E8-B724-69806E75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15025"/>
            <a:ext cx="11544300" cy="942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可扩展方向：贝叶斯推理可以封装为一个原因分析 Skill 接入，无需重建整体诊断框架。</a:t>
            </a:r>
          </a:p>
        </p:txBody>
      </p:sp>
      <p:sp>
        <p:nvSpPr>
          <p:cNvPr id="23" name="page-4">
            <a:extLst xmlns:a="http://schemas.openxmlformats.org/drawingml/2006/main">
              <a:ext uri="{FF2B5EF4-FFF2-40B4-BE49-F238E27FC236}">
                <a16:creationId xmlns:a16="http://schemas.microsoft.com/office/drawing/2014/main" id="{F3FB5553-1082-4064-94FF-D0E7E547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9334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59290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2026-07-24T02:43:20.9630000Z</dcterms:created>
  <dcterms:modified xsi:type="dcterms:W3CDTF">2026-07-24T02:43:20.9630000Z</dcterms:modified>
</coreProperties>
</file>