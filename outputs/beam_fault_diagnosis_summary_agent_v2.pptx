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3a8078a88d4b29" /><Relationship Type="http://schemas.openxmlformats.org/officeDocument/2006/relationships/extended-properties" Target="/docProps/app.xml" Id="R89743a56b19e477a" /><Relationship Type="http://schemas.openxmlformats.org/officeDocument/2006/relationships/officeDocument" Target="/ppt/presentation.xml" Id="R5a73dfc0a48941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fa99694c6f46b0"/>
  </p:sldMasterIdLst>
  <p:notesMasterIdLst>
    <p:notesMasterId xmlns:r="http://schemas.openxmlformats.org/officeDocument/2006/relationships" r:id="R506b511385874ac0"/>
  </p:notesMasterIdLst>
  <p:sldIdLst>
    <p:sldId xmlns:r="http://schemas.openxmlformats.org/officeDocument/2006/relationships" id="256" r:id="R5db757837a544fff"/>
    <p:sldId xmlns:r="http://schemas.openxmlformats.org/officeDocument/2006/relationships" id="257" r:id="Ra31cc7d5cfae4bec"/>
    <p:sldId xmlns:r="http://schemas.openxmlformats.org/officeDocument/2006/relationships" id="258" r:id="R703ed6c5f6754a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3763380f684d0a" /><Relationship Type="http://schemas.openxmlformats.org/officeDocument/2006/relationships/slideMaster" Target="/ppt/slideMasters/slideMaster1.xml" Id="R5afa99694c6f46b0" /><Relationship Type="http://schemas.openxmlformats.org/officeDocument/2006/relationships/notesMaster" Target="/ppt/notesMasters/notesMaster1.xml" Id="R506b511385874ac0" /><Relationship Type="http://schemas.openxmlformats.org/officeDocument/2006/relationships/presProps" Target="/ppt/presProps.xml" Id="Rde5d720430264998" /><Relationship Type="http://schemas.openxmlformats.org/officeDocument/2006/relationships/tableStyles" Target="/ppt/tableStyles.xml" Id="Rbbd2b9d02c61471d" /><Relationship Type="http://schemas.openxmlformats.org/officeDocument/2006/relationships/slide" Target="/ppt/slides/slide1.xml" Id="R5db757837a544fff" /><Relationship Type="http://schemas.openxmlformats.org/officeDocument/2006/relationships/slide" Target="/ppt/slides/slide2.xml" Id="Ra31cc7d5cfae4bec" /><Relationship Type="http://schemas.openxmlformats.org/officeDocument/2006/relationships/slide" Target="/ppt/slides/slide3.xml" Id="R703ed6c5f6754a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f192cc0dfd43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87e0c532f4efc" /><Relationship Type="http://schemas.openxmlformats.org/officeDocument/2006/relationships/notesMaster" Target="/ppt/notesMasters/notesMaster1.xml" Id="Rd2a7c8ba7156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6847ad52c44f6" /><Relationship Type="http://schemas.openxmlformats.org/officeDocument/2006/relationships/notesMaster" Target="/ppt/notesMasters/notesMaster1.xml" Id="R50354b20c01948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dc83f09bd14dc1" /><Relationship Type="http://schemas.openxmlformats.org/officeDocument/2006/relationships/notesMaster" Target="/ppt/notesMasters/notesMaster1.xml" Id="Rc39d4de0d8544a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f79bc79b64a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367b3fc38240f9" /><Relationship Type="http://schemas.openxmlformats.org/officeDocument/2006/relationships/slideLayout" Target="/ppt/slideLayouts/slideLayout1.xml" Id="R31591d32e78a41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91d32e78a41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e092a6ba14a7f" /><Relationship Type="http://schemas.openxmlformats.org/officeDocument/2006/relationships/notesSlide" Target="/ppt/notesSlides/notesSlide1.xml" Id="R2247856873d940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fcc1365b34ccc" /><Relationship Type="http://schemas.openxmlformats.org/officeDocument/2006/relationships/notesSlide" Target="/ppt/notesSlides/notesSlide2.xml" Id="Ra094839f83b644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8a00fadda4c8c" /><Relationship Type="http://schemas.openxmlformats.org/officeDocument/2006/relationships/notesSlide" Target="/ppt/notesSlides/notesSlide3.xml" Id="R7bcf583764144c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705DAABE-4054-42D0-9F14-EC1E8FB5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束流诊断已形成“检测—归因—闭环”完整链路</a:t>
            </a:r>
          </a:p>
        </p:txBody>
      </p:sp>
      <p:sp>
        <p:nvSpPr>
          <p:cNvPr id="2" name="slide1-subtitle">
            <a:extLst xmlns:a="http://schemas.openxmlformats.org/drawingml/2006/main">
              <a:ext uri="{FF2B5EF4-FFF2-40B4-BE49-F238E27FC236}">
                <a16:creationId xmlns:a16="http://schemas.microsoft.com/office/drawing/2014/main" id="{6837821A-60DE-40C6-A6A2-674A2CDA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规则负责判定与证据组织，模型负责面向运维人员的报告表达。</a:t>
            </a:r>
          </a:p>
        </p:txBody>
      </p:sp>
      <p:sp>
        <p:nvSpPr>
          <p:cNvPr id="3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0F429A33-A935-460C-AFC7-C4D2EAB3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0439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tep-node-1">
            <a:extLst xmlns:a="http://schemas.openxmlformats.org/drawingml/2006/main">
              <a:ext uri="{FF2B5EF4-FFF2-40B4-BE49-F238E27FC236}">
                <a16:creationId xmlns:a16="http://schemas.microsoft.com/office/drawing/2014/main" id="{31D1441D-A254-4313-AF07-A9A6CD69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E0B50FEE-3412-4EE7-AD37-90D1DD7F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620500" cy="463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1950B9E-0C8B-4E6D-84F6-BC22BB8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179195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检测</a:t>
            </a:r>
          </a:p>
        </p:txBody>
      </p:sp>
      <p:sp>
        <p:nvSpPr>
          <p:cNvPr id="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80DC713-A70D-4FB2-B709-D4783821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7919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t>30 s 窗口叠加 600 s 历史上下文
同步读取束流电流、MODE 与关键报警 PV
中位数、点占比、下降沿与状态迁移共同判定</a:t>
            </a:r>
          </a:p>
        </p:txBody>
      </p:sp>
      <p:sp>
        <p:nvSpPr>
          <p:cNvPr id="8" name="step-node-2">
            <a:extLst xmlns:a="http://schemas.openxmlformats.org/drawingml/2006/main">
              <a:ext uri="{FF2B5EF4-FFF2-40B4-BE49-F238E27FC236}">
                <a16:creationId xmlns:a16="http://schemas.microsoft.com/office/drawing/2014/main" id="{D832B06F-0CB9-4B8A-BB92-FDAC9117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61BABC1-58A6-4D62-9352-ACC4BD67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19325"/>
            <a:ext cx="7705725" cy="463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A54B350-163D-4486-99C4-746A8E06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95600"/>
            <a:ext cx="787717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归因</a:t>
            </a:r>
          </a:p>
        </p:txBody>
      </p:sp>
      <p:sp>
        <p:nvSpPr>
          <p:cNvPr id="1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9A0BCDE9-CCFA-4B92-A42D-04BD8E2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29000"/>
            <a:ext cx="7877175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 normal / drop / decay 结构化分类
报警 PV 按时间与状态排序形成候选原因
掉束事件进一步联动四极铁电源异常分析</a:t>
            </a:r>
          </a:p>
        </p:txBody>
      </p:sp>
      <p:sp>
        <p:nvSpPr>
          <p:cNvPr id="12" name="step-node-3">
            <a:extLst xmlns:a="http://schemas.openxmlformats.org/drawingml/2006/main">
              <a:ext uri="{FF2B5EF4-FFF2-40B4-BE49-F238E27FC236}">
                <a16:creationId xmlns:a16="http://schemas.microsoft.com/office/drawing/2014/main" id="{59FBC1E2-573D-4A7D-A76B-85FFA4CE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A647C76C-54D3-4244-A2DD-38F43C4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19325"/>
            <a:ext cx="3790950" cy="463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11DFBD21-5DA2-430B-8945-62657308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96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闭环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5B2402E-03C9-4A5C-BEFA-C924264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9624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t>相同故障合并为持续 active incident
连续 3 个严格正常窗口后确认恢复
沉淀证据、报告与通知，支持自动及手动诊断</a:t>
            </a:r>
          </a:p>
        </p:txBody>
      </p:sp>
      <p:sp>
        <p:nvSpPr>
          <p:cNvPr id="16" name="llm-boundary-band">
            <a:extLst xmlns:a="http://schemas.openxmlformats.org/drawingml/2006/main">
              <a:ext uri="{FF2B5EF4-FFF2-40B4-BE49-F238E27FC236}">
                <a16:creationId xmlns:a16="http://schemas.microsoft.com/office/drawing/2014/main" id="{AF3BA15E-483A-4F33-B0E3-81EE6D97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715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17" name="llm-boundary-text">
            <a:extLst xmlns:a="http://schemas.openxmlformats.org/drawingml/2006/main">
              <a:ext uri="{FF2B5EF4-FFF2-40B4-BE49-F238E27FC236}">
                <a16:creationId xmlns:a16="http://schemas.microsoft.com/office/drawing/2014/main" id="{13A727F7-CEFB-4E9B-97B5-212F47BB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620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关键边界：LLM 不直接决定故障分类或原因排序，只消费结构化证据生成报告。</a:t>
            </a:r>
          </a:p>
        </p:txBody>
      </p:sp>
      <p:sp>
        <p:nvSpPr>
          <p:cNvPr id="18" name="page-1">
            <a:extLst xmlns:a="http://schemas.openxmlformats.org/drawingml/2006/main">
              <a:ext uri="{FF2B5EF4-FFF2-40B4-BE49-F238E27FC236}">
                <a16:creationId xmlns:a16="http://schemas.microsoft.com/office/drawing/2014/main" id="{FB9584FE-2C8C-4328-8A2A-3DE8C9B2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60235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616D545F-6658-4326-A7FB-A253C5E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亮点在于可解释、可持续与可迁移</a:t>
            </a:r>
          </a:p>
        </p:txBody>
      </p:sp>
      <p:sp>
        <p:nvSpPr>
          <p:cNvPr id="2" name="slide2-subtitle">
            <a:extLst xmlns:a="http://schemas.openxmlformats.org/drawingml/2006/main">
              <a:ext uri="{FF2B5EF4-FFF2-40B4-BE49-F238E27FC236}">
                <a16:creationId xmlns:a16="http://schemas.microsoft.com/office/drawing/2014/main" id="{D1812E64-CB03-440E-9073-F7FC0523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791950" cy="575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四项工程能力共同决定诊断结果能否进入长期运行。</a:t>
            </a:r>
          </a:p>
        </p:txBody>
      </p:sp>
      <p:sp>
        <p:nvSpPr>
          <p:cNvPr id="3" name="row-divider">
            <a:extLst xmlns:a="http://schemas.openxmlformats.org/drawingml/2006/main">
              <a:ext uri="{FF2B5EF4-FFF2-40B4-BE49-F238E27FC236}">
                <a16:creationId xmlns:a16="http://schemas.microsoft.com/office/drawing/2014/main" id="{4765F67A-C865-4FA5-9740-693B6F2C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oint-rule-1">
            <a:extLst xmlns:a="http://schemas.openxmlformats.org/drawingml/2006/main">
              <a:ext uri="{FF2B5EF4-FFF2-40B4-BE49-F238E27FC236}">
                <a16:creationId xmlns:a16="http://schemas.microsoft.com/office/drawing/2014/main" id="{9C366EE8-8A45-4EEC-8D09-53218193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point-number-1">
            <a:extLst xmlns:a="http://schemas.openxmlformats.org/drawingml/2006/main">
              <a:ext uri="{FF2B5EF4-FFF2-40B4-BE49-F238E27FC236}">
                <a16:creationId xmlns:a16="http://schemas.microsoft.com/office/drawing/2014/main" id="{BD856E35-3037-495E-B1D7-19FE4521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1582400" cy="497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point-title-1">
            <a:extLst xmlns:a="http://schemas.openxmlformats.org/drawingml/2006/main">
              <a:ext uri="{FF2B5EF4-FFF2-40B4-BE49-F238E27FC236}">
                <a16:creationId xmlns:a16="http://schemas.microsoft.com/office/drawing/2014/main" id="{050DB97D-9ACB-416A-A6A1-A6CD8B0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1582400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历史上下文补齐短窗口盲区</a:t>
            </a:r>
          </a:p>
        </p:txBody>
      </p:sp>
      <p:sp>
        <p:nvSpPr>
          <p:cNvPr id="7" name="point-body-1">
            <a:extLst xmlns:a="http://schemas.openxmlformats.org/drawingml/2006/main">
              <a:ext uri="{FF2B5EF4-FFF2-40B4-BE49-F238E27FC236}">
                <a16:creationId xmlns:a16="http://schemas.microsoft.com/office/drawing/2014/main" id="{3815C6CD-1F9F-4470-A6ED-B3BA8E32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582400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30 s 与前序束流样本拼接
从正常基线定位掉束起点
并重建已经跨窗的 MODE 中断事件</a:t>
            </a:r>
          </a:p>
        </p:txBody>
      </p:sp>
      <p:sp>
        <p:nvSpPr>
          <p:cNvPr id="8" name="point-rule-2">
            <a:extLst xmlns:a="http://schemas.openxmlformats.org/drawingml/2006/main">
              <a:ext uri="{FF2B5EF4-FFF2-40B4-BE49-F238E27FC236}">
                <a16:creationId xmlns:a16="http://schemas.microsoft.com/office/drawing/2014/main" id="{C193D4B6-FD8F-4C86-930B-A1F78E20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859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point-number-2">
            <a:extLst xmlns:a="http://schemas.openxmlformats.org/drawingml/2006/main">
              <a:ext uri="{FF2B5EF4-FFF2-40B4-BE49-F238E27FC236}">
                <a16:creationId xmlns:a16="http://schemas.microsoft.com/office/drawing/2014/main" id="{A5CC4A0E-12D1-4EA9-B633-852FB733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85950"/>
            <a:ext cx="5724525" cy="497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point-title-2">
            <a:extLst xmlns:a="http://schemas.openxmlformats.org/drawingml/2006/main">
              <a:ext uri="{FF2B5EF4-FFF2-40B4-BE49-F238E27FC236}">
                <a16:creationId xmlns:a16="http://schemas.microsoft.com/office/drawing/2014/main" id="{926E630F-9A85-44E4-9558-90CD6044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09800"/>
            <a:ext cx="5724525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多信号一致性抑制误判</a:t>
            </a:r>
          </a:p>
        </p:txBody>
      </p:sp>
      <p:sp>
        <p:nvSpPr>
          <p:cNvPr id="11" name="point-body-2">
            <a:extLst xmlns:a="http://schemas.openxmlformats.org/drawingml/2006/main">
              <a:ext uri="{FF2B5EF4-FFF2-40B4-BE49-F238E27FC236}">
                <a16:creationId xmlns:a16="http://schemas.microsoft.com/office/drawing/2014/main" id="{BA8F97BB-CEFD-419E-B138-44E794D1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24150"/>
            <a:ext cx="5724525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束流统计、下降沿、MODE 与报警互证
轻微边界偏离不会单独触发故障
降低单一阈值带来的误报</a:t>
            </a:r>
          </a:p>
        </p:txBody>
      </p:sp>
      <p:sp>
        <p:nvSpPr>
          <p:cNvPr id="12" name="point-rule-3">
            <a:extLst xmlns:a="http://schemas.openxmlformats.org/drawingml/2006/main">
              <a:ext uri="{FF2B5EF4-FFF2-40B4-BE49-F238E27FC236}">
                <a16:creationId xmlns:a16="http://schemas.microsoft.com/office/drawing/2014/main" id="{920B413F-F7CD-46BF-9723-0523F2BE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point-number-3">
            <a:extLst xmlns:a="http://schemas.openxmlformats.org/drawingml/2006/main">
              <a:ext uri="{FF2B5EF4-FFF2-40B4-BE49-F238E27FC236}">
                <a16:creationId xmlns:a16="http://schemas.microsoft.com/office/drawing/2014/main" id="{C7946C8A-0AEC-42EA-A11A-0C4251B3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158240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point-title-3">
            <a:extLst xmlns:a="http://schemas.openxmlformats.org/drawingml/2006/main">
              <a:ext uri="{FF2B5EF4-FFF2-40B4-BE49-F238E27FC236}">
                <a16:creationId xmlns:a16="http://schemas.microsoft.com/office/drawing/2014/main" id="{C9396FC9-474C-4ABC-9B9F-5E525CCD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158240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状态化事件管理避免重复告警</a:t>
            </a:r>
          </a:p>
        </p:txBody>
      </p:sp>
      <p:sp>
        <p:nvSpPr>
          <p:cNvPr id="15" name="point-body-3">
            <a:extLst xmlns:a="http://schemas.openxmlformats.org/drawingml/2006/main">
              <a:ext uri="{FF2B5EF4-FFF2-40B4-BE49-F238E27FC236}">
                <a16:creationId xmlns:a16="http://schemas.microsoft.com/office/drawing/2014/main" id="{7589981D-B343-4D8F-9909-35E4D369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158240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持续异常只更新同一 incident
保留初始分类与主因；连续 3 个
严格正常窗口后才确认恢复</a:t>
            </a:r>
          </a:p>
        </p:txBody>
      </p:sp>
      <p:sp>
        <p:nvSpPr>
          <p:cNvPr id="16" name="point-rule-4">
            <a:extLst xmlns:a="http://schemas.openxmlformats.org/drawingml/2006/main">
              <a:ext uri="{FF2B5EF4-FFF2-40B4-BE49-F238E27FC236}">
                <a16:creationId xmlns:a16="http://schemas.microsoft.com/office/drawing/2014/main" id="{C2C1C86F-C4CB-4DCB-B7BD-E2071C78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433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point-number-4">
            <a:extLst xmlns:a="http://schemas.openxmlformats.org/drawingml/2006/main">
              <a:ext uri="{FF2B5EF4-FFF2-40B4-BE49-F238E27FC236}">
                <a16:creationId xmlns:a16="http://schemas.microsoft.com/office/drawing/2014/main" id="{002F023F-9E32-4C18-8FB1-F1E88591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43350"/>
            <a:ext cx="5724525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8" name="point-title-4">
            <a:extLst xmlns:a="http://schemas.openxmlformats.org/drawingml/2006/main">
              <a:ext uri="{FF2B5EF4-FFF2-40B4-BE49-F238E27FC236}">
                <a16:creationId xmlns:a16="http://schemas.microsoft.com/office/drawing/2014/main" id="{C4EEA1F3-41DF-420E-8668-D3088F30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67200"/>
            <a:ext cx="5724525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模块化能力便于复用扩展</a:t>
            </a:r>
          </a:p>
        </p:txBody>
      </p:sp>
      <p:sp>
        <p:nvSpPr>
          <p:cNvPr id="19" name="point-body-4">
            <a:extLst xmlns:a="http://schemas.openxmlformats.org/drawingml/2006/main">
              <a:ext uri="{FF2B5EF4-FFF2-40B4-BE49-F238E27FC236}">
                <a16:creationId xmlns:a16="http://schemas.microsoft.com/office/drawing/2014/main" id="{BD486E59-1D70-4779-BD54-A808BA38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81550"/>
            <a:ext cx="5724525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SQL / HTTP 数据源可替换
现象检测、原因分析拆为 Skill
提供独立 JSON / CLI 便携版本</a:t>
            </a:r>
          </a:p>
        </p:txBody>
      </p:sp>
      <p:sp>
        <p:nvSpPr>
          <p:cNvPr id="2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48A8F211-213F-4054-BD5D-167EDA47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7919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结果：系统从“单次判断”升级为可回放、可追责、可持续演进的故障事件能力。</a:t>
            </a:r>
          </a:p>
        </p:txBody>
      </p:sp>
      <p:sp>
        <p:nvSpPr>
          <p:cNvPr id="21" name="page-2">
            <a:extLst xmlns:a="http://schemas.openxmlformats.org/drawingml/2006/main">
              <a:ext uri="{FF2B5EF4-FFF2-40B4-BE49-F238E27FC236}">
                <a16:creationId xmlns:a16="http://schemas.microsoft.com/office/drawing/2014/main" id="{25AEA8BB-F104-4B44-A0B3-C952FBED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1189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2FC1848-A0C0-48CB-8C47-11CA018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自动诊断与对话诊断通过 HarnessAgent 协同运行</a:t>
            </a:r>
          </a:p>
        </p:txBody>
      </p:sp>
      <p:sp>
        <p:nvSpPr>
          <p:cNvPr id="2" name="slide3-subtitle">
            <a:extLst xmlns:a="http://schemas.openxmlformats.org/drawingml/2006/main">
              <a:ext uri="{FF2B5EF4-FFF2-40B4-BE49-F238E27FC236}">
                <a16:creationId xmlns:a16="http://schemas.microsoft.com/office/drawing/2014/main" id="{0E28F04D-1BF1-4E44-8E0E-6649F9C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11791950" cy="5772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自动路径保证稳定持续，对话路径提供灵活编排；二者共享工具、技能与证据语义。</a:t>
            </a:r>
          </a:p>
        </p:txBody>
      </p:sp>
      <p:sp>
        <p:nvSpPr>
          <p:cNvPr id="3" name="auto-to-agent">
            <a:extLst xmlns:a="http://schemas.openxmlformats.org/drawingml/2006/main">
              <a:ext uri="{FF2B5EF4-FFF2-40B4-BE49-F238E27FC236}">
                <a16:creationId xmlns:a16="http://schemas.microsoft.com/office/drawing/2014/main" id="{21BA6973-CD4B-4FC7-9307-BC06946F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chat-to-agent">
            <a:extLst xmlns:a="http://schemas.openxmlformats.org/drawingml/2006/main">
              <a:ext uri="{FF2B5EF4-FFF2-40B4-BE49-F238E27FC236}">
                <a16:creationId xmlns:a16="http://schemas.microsoft.com/office/drawing/2014/main" id="{3B3E144A-5F84-44B5-996C-9A1A3BB8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24325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agent-to-recorder">
            <a:extLst xmlns:a="http://schemas.openxmlformats.org/drawingml/2006/main">
              <a:ext uri="{FF2B5EF4-FFF2-40B4-BE49-F238E27FC236}">
                <a16:creationId xmlns:a16="http://schemas.microsoft.com/office/drawing/2014/main" id="{21F82B37-0E09-4421-9C24-643EB427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auto-entry-box">
            <a:extLst xmlns:a="http://schemas.openxmlformats.org/drawingml/2006/main">
              <a:ext uri="{FF2B5EF4-FFF2-40B4-BE49-F238E27FC236}">
                <a16:creationId xmlns:a16="http://schemas.microsoft.com/office/drawing/2014/main" id="{6FEB3D39-2BBE-4AAE-A658-144D22D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479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7" name="auto-entry-title">
            <a:extLst xmlns:a="http://schemas.openxmlformats.org/drawingml/2006/main">
              <a:ext uri="{FF2B5EF4-FFF2-40B4-BE49-F238E27FC236}">
                <a16:creationId xmlns:a16="http://schemas.microsoft.com/office/drawing/2014/main" id="{5A462FFF-295B-4663-83B0-2FAA076F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1582400" cy="4943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自动诊断</a:t>
            </a:r>
          </a:p>
        </p:txBody>
      </p:sp>
      <p:sp>
        <p:nvSpPr>
          <p:cNvPr id="8" name="auto-entry-body">
            <a:extLst xmlns:a="http://schemas.openxmlformats.org/drawingml/2006/main">
              <a:ext uri="{FF2B5EF4-FFF2-40B4-BE49-F238E27FC236}">
                <a16:creationId xmlns:a16="http://schemas.microsoft.com/office/drawing/2014/main" id="{9AEA3FCA-2D0B-4BDC-8C78-4C10794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1582400" cy="452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Scheduler / BeamAutoMonitor
30 s 巡检与 incident 合并
生成报告/通知
run_auto 可接入 Agent</a:t>
            </a:r>
          </a:p>
        </p:txBody>
      </p:sp>
      <p:sp>
        <p:nvSpPr>
          <p:cNvPr id="9" name="chat-entry-box">
            <a:extLst xmlns:a="http://schemas.openxmlformats.org/drawingml/2006/main">
              <a:ext uri="{FF2B5EF4-FFF2-40B4-BE49-F238E27FC236}">
                <a16:creationId xmlns:a16="http://schemas.microsoft.com/office/drawing/2014/main" id="{0C42B6CA-3445-4380-ADF6-0C1EECF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6479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0" name="chat-entry-title">
            <a:extLst xmlns:a="http://schemas.openxmlformats.org/drawingml/2006/main">
              <a:ext uri="{FF2B5EF4-FFF2-40B4-BE49-F238E27FC236}">
                <a16:creationId xmlns:a16="http://schemas.microsoft.com/office/drawing/2014/main" id="{764BBB1A-0DCF-499C-9DAE-C3571D15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1582400" cy="3228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对话诊断</a:t>
            </a:r>
          </a:p>
        </p:txBody>
      </p:sp>
      <p:sp>
        <p:nvSpPr>
          <p:cNvPr id="11" name="chat-entry-body">
            <a:extLst xmlns:a="http://schemas.openxmlformats.org/drawingml/2006/main">
              <a:ext uri="{FF2B5EF4-FFF2-40B4-BE49-F238E27FC236}">
                <a16:creationId xmlns:a16="http://schemas.microsoft.com/office/drawing/2014/main" id="{F75F5F9D-158D-4D8F-90E1-A592116C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1582400" cy="2790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FastAPI /agent/chat
自然语言、时间窗与多轮上下文
按需启用 RAG，由 run_chat 进入</a:t>
            </a:r>
          </a:p>
        </p:txBody>
      </p:sp>
      <p:sp>
        <p:nvSpPr>
          <p:cNvPr id="12" name="harness-agent-frame">
            <a:extLst xmlns:a="http://schemas.openxmlformats.org/drawingml/2006/main">
              <a:ext uri="{FF2B5EF4-FFF2-40B4-BE49-F238E27FC236}">
                <a16:creationId xmlns:a16="http://schemas.microsoft.com/office/drawing/2014/main" id="{D35063B7-3F26-49B7-91B5-B36EB205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76400"/>
            <a:ext cx="5305425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3" name="harness-agent-title">
            <a:extLst xmlns:a="http://schemas.openxmlformats.org/drawingml/2006/main">
              <a:ext uri="{FF2B5EF4-FFF2-40B4-BE49-F238E27FC236}">
                <a16:creationId xmlns:a16="http://schemas.microsoft.com/office/drawing/2014/main" id="{269DBAB7-6DDD-4842-B2FF-464A1393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76425"/>
            <a:ext cx="8448675" cy="498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HarnessAgent</a:t>
            </a:r>
          </a:p>
        </p:txBody>
      </p:sp>
      <p:sp>
        <p:nvSpPr>
          <p:cNvPr id="14" name="harness-agent-subtitle">
            <a:extLst xmlns:a="http://schemas.openxmlformats.org/drawingml/2006/main">
              <a:ext uri="{FF2B5EF4-FFF2-40B4-BE49-F238E27FC236}">
                <a16:creationId xmlns:a16="http://schemas.microsoft.com/office/drawing/2014/main" id="{83AF9725-D238-47AD-9EFD-5E48DB45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6572250" cy="491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DiagnosisAgentRunner + LangGraph</a:t>
            </a:r>
          </a:p>
        </p:txBody>
      </p:sp>
      <p:sp>
        <p:nvSpPr>
          <p:cNvPr id="15" name="agent-flow-line">
            <a:extLst xmlns:a="http://schemas.openxmlformats.org/drawingml/2006/main">
              <a:ext uri="{FF2B5EF4-FFF2-40B4-BE49-F238E27FC236}">
                <a16:creationId xmlns:a16="http://schemas.microsoft.com/office/drawing/2014/main" id="{E4581628-D2C0-43CE-AD28-7A1B520F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24150"/>
            <a:ext cx="453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6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7E2F493F-7849-4745-A5D6-11B99435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agent-node-label-1">
            <a:extLst xmlns:a="http://schemas.openxmlformats.org/drawingml/2006/main">
              <a:ext uri="{FF2B5EF4-FFF2-40B4-BE49-F238E27FC236}">
                <a16:creationId xmlns:a16="http://schemas.microsoft.com/office/drawing/2014/main" id="{66421DE9-277F-4BAE-9A68-913933E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67050"/>
            <a:ext cx="8486775" cy="3790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初始化</a:t>
            </a:r>
          </a:p>
        </p:txBody>
      </p:sp>
      <p:sp>
        <p:nvSpPr>
          <p:cNvPr id="18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17380D05-821E-4EE4-9AAA-2F377187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05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agent-node-label-2">
            <a:extLst xmlns:a="http://schemas.openxmlformats.org/drawingml/2006/main">
              <a:ext uri="{FF2B5EF4-FFF2-40B4-BE49-F238E27FC236}">
                <a16:creationId xmlns:a16="http://schemas.microsoft.com/office/drawing/2014/main" id="{8185B1F4-8677-4D26-8EC8-7AEF031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7515225" cy="3790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检索 RAG</a:t>
            </a:r>
          </a:p>
        </p:txBody>
      </p:sp>
      <p:sp>
        <p:nvSpPr>
          <p:cNvPr id="20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DB10FEFA-6EEA-4CAA-AE44-82FDDE81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05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agent-node-label-3">
            <a:extLst xmlns:a="http://schemas.openxmlformats.org/drawingml/2006/main">
              <a:ext uri="{FF2B5EF4-FFF2-40B4-BE49-F238E27FC236}">
                <a16:creationId xmlns:a16="http://schemas.microsoft.com/office/drawing/2014/main" id="{C2E68FE2-FAF0-4AE7-B83B-13C34498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6457950" cy="3790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规划</a:t>
            </a:r>
          </a:p>
        </p:txBody>
      </p:sp>
      <p:sp>
        <p:nvSpPr>
          <p:cNvPr id="22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1FE93C4D-15D8-4575-8DDC-7C2E99C5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05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agent-node-label-4">
            <a:extLst xmlns:a="http://schemas.openxmlformats.org/drawingml/2006/main">
              <a:ext uri="{FF2B5EF4-FFF2-40B4-BE49-F238E27FC236}">
                <a16:creationId xmlns:a16="http://schemas.microsoft.com/office/drawing/2014/main" id="{1966EBA9-CFDE-4583-8BF0-A2087D59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5524500" cy="3790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</a:t>
            </a:r>
          </a:p>
        </p:txBody>
      </p:sp>
      <p:sp>
        <p:nvSpPr>
          <p:cNvPr id="24" name="agent-node-5">
            <a:extLst xmlns:a="http://schemas.openxmlformats.org/drawingml/2006/main">
              <a:ext uri="{FF2B5EF4-FFF2-40B4-BE49-F238E27FC236}">
                <a16:creationId xmlns:a16="http://schemas.microsoft.com/office/drawing/2014/main" id="{FFA3825C-181B-410C-B309-89CB6FE4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05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agent-node-label-5">
            <a:extLst xmlns:a="http://schemas.openxmlformats.org/drawingml/2006/main">
              <a:ext uri="{FF2B5EF4-FFF2-40B4-BE49-F238E27FC236}">
                <a16:creationId xmlns:a16="http://schemas.microsoft.com/office/drawing/2014/main" id="{5A6E1505-386C-4F67-8C3D-5FA8C6F1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4591050" cy="3790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总结</a:t>
            </a:r>
          </a:p>
        </p:txBody>
      </p:sp>
      <p:sp>
        <p:nvSpPr>
          <p:cNvPr id="26" name="react-loop-note">
            <a:extLst xmlns:a="http://schemas.openxmlformats.org/drawingml/2006/main">
              <a:ext uri="{FF2B5EF4-FFF2-40B4-BE49-F238E27FC236}">
                <a16:creationId xmlns:a16="http://schemas.microsoft.com/office/drawing/2014/main" id="{6698C6E6-202A-4D80-8B55-5B2954E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8448675" cy="3438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Plan ⇄ Act：每步只调用一个 Tool / Skill
最多 8 步；异常显式进入 fail 节点</a:t>
            </a:r>
          </a:p>
        </p:txBody>
      </p:sp>
      <p:sp>
        <p:nvSpPr>
          <p:cNvPr id="27" name="agent-capabilities">
            <a:extLst xmlns:a="http://schemas.openxmlformats.org/drawingml/2006/main">
              <a:ext uri="{FF2B5EF4-FFF2-40B4-BE49-F238E27FC236}">
                <a16:creationId xmlns:a16="http://schemas.microsoft.com/office/drawing/2014/main" id="{77008776-36AC-482B-B2C3-B6498BCF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90975"/>
            <a:ext cx="8448675" cy="286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Tool Registry：PV / Archive / SQL / 诊断工具
Skill Registry：beam_state / decay_cause / quadrupole_power
State：observations → evidence → candidate_causes</a:t>
            </a:r>
          </a:p>
        </p:txBody>
      </p:sp>
      <p:sp>
        <p:nvSpPr>
          <p:cNvPr id="28" name="recorder-box">
            <a:extLst xmlns:a="http://schemas.openxmlformats.org/drawingml/2006/main">
              <a:ext uri="{FF2B5EF4-FFF2-40B4-BE49-F238E27FC236}">
                <a16:creationId xmlns:a16="http://schemas.microsoft.com/office/drawing/2014/main" id="{F15166D1-0ECD-45F3-AA6F-E41C2C60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00250"/>
            <a:ext cx="2619375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29" name="recorder-title">
            <a:extLst xmlns:a="http://schemas.openxmlformats.org/drawingml/2006/main">
              <a:ext uri="{FF2B5EF4-FFF2-40B4-BE49-F238E27FC236}">
                <a16:creationId xmlns:a16="http://schemas.microsoft.com/office/drawing/2014/main" id="{BDF1B736-BE33-441A-A041-AEFB05D9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19325"/>
            <a:ext cx="2809875" cy="463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Harness 记录器</a:t>
            </a:r>
          </a:p>
        </p:txBody>
      </p:sp>
      <p:sp>
        <p:nvSpPr>
          <p:cNvPr id="30" name="recorder-body">
            <a:extLst xmlns:a="http://schemas.openxmlformats.org/drawingml/2006/main">
              <a:ext uri="{FF2B5EF4-FFF2-40B4-BE49-F238E27FC236}">
                <a16:creationId xmlns:a16="http://schemas.microsoft.com/office/drawing/2014/main" id="{AA786CE9-291F-4A37-8CB2-7B590EA8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24150"/>
            <a:ext cx="2809875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defRPr>
            </a:pPr>
            <a:r>
              <a:t>thread / turn / case / run
tool_call / skill_call
observation / evidence / trace
final_answer + token usage
自动束流另保留
incident / notification</a:t>
            </a:r>
          </a:p>
        </p:txBody>
      </p:sp>
      <p:sp>
        <p:nvSpPr>
          <p:cNvPr id="31" name="agent-advantages-band">
            <a:extLst xmlns:a="http://schemas.openxmlformats.org/drawingml/2006/main">
              <a:ext uri="{FF2B5EF4-FFF2-40B4-BE49-F238E27FC236}">
                <a16:creationId xmlns:a16="http://schemas.microsoft.com/office/drawing/2014/main" id="{2D4D9D1C-471F-4255-AC28-14776964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2" name="agent-advantages">
            <a:extLst xmlns:a="http://schemas.openxmlformats.org/drawingml/2006/main">
              <a:ext uri="{FF2B5EF4-FFF2-40B4-BE49-F238E27FC236}">
                <a16:creationId xmlns:a16="http://schemas.microsoft.com/office/drawing/2014/main" id="{9A0F1A16-B442-422F-8DD7-7C8995F1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1544300" cy="1228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D7A"/>
                </a:solidFill>
                <a:latin typeface="Microsoft YaHei"/>
                <a:ea typeface="Microsoft YaHei"/>
                <a:cs typeface="Microsoft YaHei"/>
              </a:defRPr>
            </a:pPr>
            <a:r>
              <a:t>优势：自动诊断稳定低成本｜对话诊断灵活可追问｜LLM 只做规划与总结｜全链路可回放、可扩展</a:t>
            </a:r>
          </a:p>
        </p:txBody>
      </p:sp>
      <p:sp>
        <p:nvSpPr>
          <p:cNvPr id="33" name="page-3">
            <a:extLst xmlns:a="http://schemas.openxmlformats.org/drawingml/2006/main">
              <a:ext uri="{FF2B5EF4-FFF2-40B4-BE49-F238E27FC236}">
                <a16:creationId xmlns:a16="http://schemas.microsoft.com/office/drawing/2014/main" id="{1DC35EFC-B2E4-4F03-ABC7-71336AA5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933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2592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2026-07-24T01:56:30.5320000Z</dcterms:created>
  <dcterms:modified xsi:type="dcterms:W3CDTF">2026-07-24T01:56:30.5330000Z</dcterms:modified>
</coreProperties>
</file>