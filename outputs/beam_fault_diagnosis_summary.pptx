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5551ab80014f00" /><Relationship Type="http://schemas.openxmlformats.org/officeDocument/2006/relationships/extended-properties" Target="/docProps/app.xml" Id="Rab2dc0ae22894903" /><Relationship Type="http://schemas.openxmlformats.org/officeDocument/2006/relationships/officeDocument" Target="/ppt/presentation.xml" Id="Rbf0b8a4be38d4d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9d17fd8fb54432"/>
  </p:sldMasterIdLst>
  <p:notesMasterIdLst>
    <p:notesMasterId xmlns:r="http://schemas.openxmlformats.org/officeDocument/2006/relationships" r:id="Rf8204cb4447a4e90"/>
  </p:notesMasterIdLst>
  <p:sldIdLst>
    <p:sldId xmlns:r="http://schemas.openxmlformats.org/officeDocument/2006/relationships" id="256" r:id="Rf89e9bce0fa44d66"/>
    <p:sldId xmlns:r="http://schemas.openxmlformats.org/officeDocument/2006/relationships" id="257" r:id="R12d1d2f1e5b74bf0"/>
    <p:sldId xmlns:r="http://schemas.openxmlformats.org/officeDocument/2006/relationships" id="258" r:id="R7afc10fe441b4aa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d39caf31db4ec0" /><Relationship Type="http://schemas.openxmlformats.org/officeDocument/2006/relationships/slideMaster" Target="/ppt/slideMasters/slideMaster1.xml" Id="R749d17fd8fb54432" /><Relationship Type="http://schemas.openxmlformats.org/officeDocument/2006/relationships/notesMaster" Target="/ppt/notesMasters/notesMaster1.xml" Id="Rf8204cb4447a4e90" /><Relationship Type="http://schemas.openxmlformats.org/officeDocument/2006/relationships/presProps" Target="/ppt/presProps.xml" Id="R96e31145292044c8" /><Relationship Type="http://schemas.openxmlformats.org/officeDocument/2006/relationships/tableStyles" Target="/ppt/tableStyles.xml" Id="Rbde38cc5e4d04855" /><Relationship Type="http://schemas.openxmlformats.org/officeDocument/2006/relationships/slide" Target="/ppt/slides/slide1.xml" Id="Rf89e9bce0fa44d66" /><Relationship Type="http://schemas.openxmlformats.org/officeDocument/2006/relationships/slide" Target="/ppt/slides/slide2.xml" Id="R12d1d2f1e5b74bf0" /><Relationship Type="http://schemas.openxmlformats.org/officeDocument/2006/relationships/slide" Target="/ppt/slides/slide3.xml" Id="R7afc10fe441b4a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017ef583004b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61a46a9d1e4da5" /><Relationship Type="http://schemas.openxmlformats.org/officeDocument/2006/relationships/notesMaster" Target="/ppt/notesMasters/notesMaster1.xml" Id="Ree16e275cc6742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22119c45d34662" /><Relationship Type="http://schemas.openxmlformats.org/officeDocument/2006/relationships/notesMaster" Target="/ppt/notesMasters/notesMaster1.xml" Id="R0adfa223342c44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960bebd4f64d76" /><Relationship Type="http://schemas.openxmlformats.org/officeDocument/2006/relationships/notesMaster" Target="/ppt/notesMasters/notesMaster1.xml" Id="R389da9c8c7b145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6dc2ef44ef4b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2ddbc1b940483a" /><Relationship Type="http://schemas.openxmlformats.org/officeDocument/2006/relationships/slideLayout" Target="/ppt/slideLayouts/slideLayout1.xml" Id="R8522341e676e47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22341e676e47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27e31feaea4f9e" /><Relationship Type="http://schemas.openxmlformats.org/officeDocument/2006/relationships/notesSlide" Target="/ppt/notesSlides/notesSlide1.xml" Id="R53ae8c14487148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d974a131164bdc" /><Relationship Type="http://schemas.openxmlformats.org/officeDocument/2006/relationships/notesSlide" Target="/ppt/notesSlides/notesSlide2.xml" Id="R59eec725413d46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1c06bb38f247db" /><Relationship Type="http://schemas.openxmlformats.org/officeDocument/2006/relationships/chart" Target="/ppt/slides/charts/chart1.xml" Id="R72891e04eeb94228" /><Relationship Type="http://schemas.openxmlformats.org/officeDocument/2006/relationships/notesSlide" Target="/ppt/notesSlides/notesSlide3.xml" Id="R9a518cfa20204d9f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掉束用例</c:v>
          </c:tx>
          <c:spPr>
            <a:ln xmlns:a="http://schemas.openxmlformats.org/drawingml/2006/main" w="38100">
              <a:solidFill>
                <a:srgbClr val="3D8DFF"/>
              </a:solidFill>
              <a:prstDash val="solid"/>
            </a:ln>
          </c:spPr>
          <c:marker>
            <c:symbol val="circle"/>
            <c:size val="7"/>
          </c:marker>
          <c:cat>
            <c:strLit>
              <c:ptCount val="4"/>
              <c:pt idx="0">
                <c:v>t0</c:v>
              </c:pt>
              <c:pt idx="1">
                <c:v>t1</c:v>
              </c:pt>
              <c:pt idx="2">
                <c:v>t2</c:v>
              </c:pt>
              <c:pt idx="3">
                <c:v>t3</c:v>
              </c:pt>
            </c:strLit>
          </c:cat>
          <c:val>
            <c:numLit>
              <c:formatCode>General</c:formatCode>
              <c:ptCount val="4"/>
              <c:pt idx="0">
                <c:v>498</c:v>
              </c:pt>
              <c:pt idx="1">
                <c:v>420</c:v>
              </c:pt>
              <c:pt idx="2">
                <c:v>80</c:v>
              </c:pt>
              <c:pt idx="3">
                <c:v>20</c:v>
              </c:pt>
            </c:numLit>
          </c:val>
        </c:ser>
        <c:ser>
          <c:idx val="1"/>
          <c:order val="1"/>
          <c:tx>
            <c:v>Decay 用例</c:v>
          </c:tx>
          <c:spPr>
            <a:ln xmlns:a="http://schemas.openxmlformats.org/drawingml/2006/main" w="38100">
              <a:solidFill>
                <a:srgbClr val="6DCBF4"/>
              </a:solidFill>
              <a:prstDash val="solid"/>
            </a:ln>
          </c:spPr>
          <c:marker>
            <c:symbol val="circle"/>
            <c:size val="7"/>
          </c:marker>
          <c:cat>
            <c:strLit>
              <c:ptCount val="4"/>
              <c:pt idx="0">
                <c:v>t0</c:v>
              </c:pt>
              <c:pt idx="1">
                <c:v>t1</c:v>
              </c:pt>
              <c:pt idx="2">
                <c:v>t2</c:v>
              </c:pt>
              <c:pt idx="3">
                <c:v>t3</c:v>
              </c:pt>
            </c:strLit>
          </c:cat>
          <c:val>
            <c:numLit>
              <c:formatCode>General</c:formatCode>
              <c:ptCount val="4"/>
              <c:pt idx="0">
                <c:v>498</c:v>
              </c:pt>
              <c:pt idx="1">
                <c:v>496</c:v>
              </c:pt>
              <c:pt idx="2">
                <c:v>494</c:v>
              </c:pt>
              <c:pt idx="3">
                <c:v>492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5F636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5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6E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111111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1-title">
            <a:extLst xmlns:a="http://schemas.openxmlformats.org/drawingml/2006/main">
              <a:ext uri="{FF2B5EF4-FFF2-40B4-BE49-F238E27FC236}">
                <a16:creationId xmlns:a16="http://schemas.microsoft.com/office/drawing/2014/main" id="{73B31587-98E4-490B-B5C2-30887069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791950" cy="653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束流诊断已形成“检测—归因—闭环”完整链路</a:t>
            </a:r>
          </a:p>
        </p:txBody>
      </p:sp>
      <p:sp>
        <p:nvSpPr>
          <p:cNvPr id="2" name="slide1-subtitle">
            <a:extLst xmlns:a="http://schemas.openxmlformats.org/drawingml/2006/main">
              <a:ext uri="{FF2B5EF4-FFF2-40B4-BE49-F238E27FC236}">
                <a16:creationId xmlns:a16="http://schemas.microsoft.com/office/drawing/2014/main" id="{E16295C6-6F01-4F01-A085-3BE9B765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791950" cy="575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规则负责判定与证据组织，模型负责面向运维人员的报告表达。</a:t>
            </a:r>
          </a:p>
        </p:txBody>
      </p:sp>
      <p:sp>
        <p:nvSpPr>
          <p:cNvPr id="3" name="process-line">
            <a:extLst xmlns:a="http://schemas.openxmlformats.org/drawingml/2006/main">
              <a:ext uri="{FF2B5EF4-FFF2-40B4-BE49-F238E27FC236}">
                <a16:creationId xmlns:a16="http://schemas.microsoft.com/office/drawing/2014/main" id="{2FB2A8DA-39FC-471C-BA03-C3D901F3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10439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4" name="step-node-1">
            <a:extLst xmlns:a="http://schemas.openxmlformats.org/drawingml/2006/main">
              <a:ext uri="{FF2B5EF4-FFF2-40B4-BE49-F238E27FC236}">
                <a16:creationId xmlns:a16="http://schemas.microsoft.com/office/drawing/2014/main" id="{79C28C0A-78B4-4F8C-8750-7D36BC58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574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5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D6F55E89-273E-42D3-A79D-6BAF0D0A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19325"/>
            <a:ext cx="11620500" cy="4638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6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A70413F9-6A1E-410B-B20C-91984823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1179195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检测</a:t>
            </a:r>
          </a:p>
        </p:txBody>
      </p:sp>
      <p:sp>
        <p:nvSpPr>
          <p:cNvPr id="7" name="step-body-1">
            <a:extLst xmlns:a="http://schemas.openxmlformats.org/drawingml/2006/main">
              <a:ext uri="{FF2B5EF4-FFF2-40B4-BE49-F238E27FC236}">
                <a16:creationId xmlns:a16="http://schemas.microsoft.com/office/drawing/2014/main" id="{74E11A83-A62F-4E18-83B2-13D177D4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1179195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t>30 s 窗口叠加 600 s 历史上下文
同步读取束流电流、MODE 与关键报警 PV
中位数、点占比、下降沿与状态迁移共同判定</a:t>
            </a:r>
          </a:p>
        </p:txBody>
      </p:sp>
      <p:sp>
        <p:nvSpPr>
          <p:cNvPr id="8" name="step-node-2">
            <a:extLst xmlns:a="http://schemas.openxmlformats.org/drawingml/2006/main">
              <a:ext uri="{FF2B5EF4-FFF2-40B4-BE49-F238E27FC236}">
                <a16:creationId xmlns:a16="http://schemas.microsoft.com/office/drawing/2014/main" id="{91142386-1E55-49C2-A6A6-9D04769E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574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9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56132E32-02A6-4D6B-88FC-22CF075E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19325"/>
            <a:ext cx="7705725" cy="4638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0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788FF422-958D-4458-B473-9AE5F1E0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895600"/>
            <a:ext cx="7877175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归因</a:t>
            </a:r>
          </a:p>
        </p:txBody>
      </p:sp>
      <p:sp>
        <p:nvSpPr>
          <p:cNvPr id="11" name="step-body-2">
            <a:extLst xmlns:a="http://schemas.openxmlformats.org/drawingml/2006/main">
              <a:ext uri="{FF2B5EF4-FFF2-40B4-BE49-F238E27FC236}">
                <a16:creationId xmlns:a16="http://schemas.microsoft.com/office/drawing/2014/main" id="{6CC2CB96-2E86-4600-999E-C7D4CEB5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429000"/>
            <a:ext cx="7877175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t>输出 normal / drop / decay 结构化分类
报警 PV 按时间与状态排序形成候选原因
掉束事件进一步联动四极铁电源异常分析</a:t>
            </a:r>
          </a:p>
        </p:txBody>
      </p:sp>
      <p:sp>
        <p:nvSpPr>
          <p:cNvPr id="12" name="step-node-3">
            <a:extLst xmlns:a="http://schemas.openxmlformats.org/drawingml/2006/main">
              <a:ext uri="{FF2B5EF4-FFF2-40B4-BE49-F238E27FC236}">
                <a16:creationId xmlns:a16="http://schemas.microsoft.com/office/drawing/2014/main" id="{7EA3FCC0-E47D-4485-BBE5-CCF374BC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574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3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B4DC61E5-A020-4DF4-A644-B46D1E5A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19325"/>
            <a:ext cx="3790950" cy="4638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4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7DF097A0-06E0-431B-989C-F06F042F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95600"/>
            <a:ext cx="39624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闭环</a:t>
            </a:r>
          </a:p>
        </p:txBody>
      </p:sp>
      <p:sp>
        <p:nvSpPr>
          <p:cNvPr id="15" name="step-body-3">
            <a:extLst xmlns:a="http://schemas.openxmlformats.org/drawingml/2006/main">
              <a:ext uri="{FF2B5EF4-FFF2-40B4-BE49-F238E27FC236}">
                <a16:creationId xmlns:a16="http://schemas.microsoft.com/office/drawing/2014/main" id="{03D7E720-7BC9-4974-9C1E-1D628635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29000"/>
            <a:ext cx="39624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t>相同故障合并为持续 active incident
连续 3 个严格正常窗口后确认恢复
沉淀证据、报告与通知，支持自动及手动诊断</a:t>
            </a:r>
          </a:p>
        </p:txBody>
      </p:sp>
      <p:sp>
        <p:nvSpPr>
          <p:cNvPr id="16" name="llm-boundary-band">
            <a:extLst xmlns:a="http://schemas.openxmlformats.org/drawingml/2006/main">
              <a:ext uri="{FF2B5EF4-FFF2-40B4-BE49-F238E27FC236}">
                <a16:creationId xmlns:a16="http://schemas.microsoft.com/office/drawing/2014/main" id="{062CC956-E715-406D-8197-D4AD32C1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0715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17" name="llm-boundary-text">
            <a:extLst xmlns:a="http://schemas.openxmlformats.org/drawingml/2006/main">
              <a:ext uri="{FF2B5EF4-FFF2-40B4-BE49-F238E27FC236}">
                <a16:creationId xmlns:a16="http://schemas.microsoft.com/office/drawing/2014/main" id="{496E187F-FECA-429B-AFFF-9B8B90FC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116205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5D7A"/>
                </a:solidFill>
                <a:latin typeface="Microsoft YaHei"/>
                <a:ea typeface="Microsoft YaHei"/>
                <a:cs typeface="Microsoft YaHei"/>
              </a:defRPr>
            </a:pPr>
            <a:r>
              <a:t>关键边界：LLM 不直接决定故障分类或原因排序，只消费结构化证据生成报告。</a:t>
            </a:r>
          </a:p>
        </p:txBody>
      </p:sp>
      <p:sp>
        <p:nvSpPr>
          <p:cNvPr id="18" name="page-1">
            <a:extLst xmlns:a="http://schemas.openxmlformats.org/drawingml/2006/main">
              <a:ext uri="{FF2B5EF4-FFF2-40B4-BE49-F238E27FC236}">
                <a16:creationId xmlns:a16="http://schemas.microsoft.com/office/drawing/2014/main" id="{C6BD1960-A186-4E45-AD69-93203021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48400"/>
            <a:ext cx="9334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533290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2-title">
            <a:extLst xmlns:a="http://schemas.openxmlformats.org/drawingml/2006/main">
              <a:ext uri="{FF2B5EF4-FFF2-40B4-BE49-F238E27FC236}">
                <a16:creationId xmlns:a16="http://schemas.microsoft.com/office/drawing/2014/main" id="{EFEDECCD-4FFC-49DA-88D8-C2D9CEC9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791950" cy="653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亮点在于可解释、可持续与可迁移</a:t>
            </a:r>
          </a:p>
        </p:txBody>
      </p:sp>
      <p:sp>
        <p:nvSpPr>
          <p:cNvPr id="2" name="slide2-subtitle">
            <a:extLst xmlns:a="http://schemas.openxmlformats.org/drawingml/2006/main">
              <a:ext uri="{FF2B5EF4-FFF2-40B4-BE49-F238E27FC236}">
                <a16:creationId xmlns:a16="http://schemas.microsoft.com/office/drawing/2014/main" id="{89407006-C5A8-4C12-AE1F-45CF451B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791950" cy="575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四项工程能力共同决定诊断结果能否进入长期运行。</a:t>
            </a:r>
          </a:p>
        </p:txBody>
      </p:sp>
      <p:sp>
        <p:nvSpPr>
          <p:cNvPr id="3" name="row-divider">
            <a:extLst xmlns:a="http://schemas.openxmlformats.org/drawingml/2006/main">
              <a:ext uri="{FF2B5EF4-FFF2-40B4-BE49-F238E27FC236}">
                <a16:creationId xmlns:a16="http://schemas.microsoft.com/office/drawing/2014/main" id="{4EF4E6BD-960D-4ED9-91EF-C020D26B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861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oint-rule-1">
            <a:extLst xmlns:a="http://schemas.openxmlformats.org/drawingml/2006/main">
              <a:ext uri="{FF2B5EF4-FFF2-40B4-BE49-F238E27FC236}">
                <a16:creationId xmlns:a16="http://schemas.microsoft.com/office/drawing/2014/main" id="{D975D387-1694-4289-ACE2-B71BC6E1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5" name="point-number-1">
            <a:extLst xmlns:a="http://schemas.openxmlformats.org/drawingml/2006/main">
              <a:ext uri="{FF2B5EF4-FFF2-40B4-BE49-F238E27FC236}">
                <a16:creationId xmlns:a16="http://schemas.microsoft.com/office/drawing/2014/main" id="{B5E6CA09-94A7-4439-A45E-537B6289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1582400" cy="497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6" name="point-title-1">
            <a:extLst xmlns:a="http://schemas.openxmlformats.org/drawingml/2006/main">
              <a:ext uri="{FF2B5EF4-FFF2-40B4-BE49-F238E27FC236}">
                <a16:creationId xmlns:a16="http://schemas.microsoft.com/office/drawing/2014/main" id="{8A2BD47B-9D7C-4B54-97D5-4815AE15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1582400" cy="464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历史上下文补齐短窗口盲区</a:t>
            </a:r>
          </a:p>
        </p:txBody>
      </p:sp>
      <p:sp>
        <p:nvSpPr>
          <p:cNvPr id="7" name="point-body-1">
            <a:extLst xmlns:a="http://schemas.openxmlformats.org/drawingml/2006/main">
              <a:ext uri="{FF2B5EF4-FFF2-40B4-BE49-F238E27FC236}">
                <a16:creationId xmlns:a16="http://schemas.microsoft.com/office/drawing/2014/main" id="{82B59C07-9454-4964-A4F3-8EC16429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1582400" cy="413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defRPr>
            </a:pPr>
            <a:r>
              <a:t>当前 30 s 与前序束流样本拼接
从正常基线定位掉束起点
并重建已经跨窗的 MODE 中断事件</a:t>
            </a:r>
          </a:p>
        </p:txBody>
      </p:sp>
      <p:sp>
        <p:nvSpPr>
          <p:cNvPr id="8" name="point-rule-2">
            <a:extLst xmlns:a="http://schemas.openxmlformats.org/drawingml/2006/main">
              <a:ext uri="{FF2B5EF4-FFF2-40B4-BE49-F238E27FC236}">
                <a16:creationId xmlns:a16="http://schemas.microsoft.com/office/drawing/2014/main" id="{2F1190F6-2E5C-4C74-B3E9-D04B600B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8859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point-number-2">
            <a:extLst xmlns:a="http://schemas.openxmlformats.org/drawingml/2006/main">
              <a:ext uri="{FF2B5EF4-FFF2-40B4-BE49-F238E27FC236}">
                <a16:creationId xmlns:a16="http://schemas.microsoft.com/office/drawing/2014/main" id="{85641460-5DC0-45C6-8FD5-4C0E0874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885950"/>
            <a:ext cx="5724525" cy="497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0" name="point-title-2">
            <a:extLst xmlns:a="http://schemas.openxmlformats.org/drawingml/2006/main">
              <a:ext uri="{FF2B5EF4-FFF2-40B4-BE49-F238E27FC236}">
                <a16:creationId xmlns:a16="http://schemas.microsoft.com/office/drawing/2014/main" id="{1C4DEC37-79BA-4019-8BA2-D0020188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209800"/>
            <a:ext cx="5724525" cy="464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多信号一致性抑制误判</a:t>
            </a:r>
          </a:p>
        </p:txBody>
      </p:sp>
      <p:sp>
        <p:nvSpPr>
          <p:cNvPr id="11" name="point-body-2">
            <a:extLst xmlns:a="http://schemas.openxmlformats.org/drawingml/2006/main">
              <a:ext uri="{FF2B5EF4-FFF2-40B4-BE49-F238E27FC236}">
                <a16:creationId xmlns:a16="http://schemas.microsoft.com/office/drawing/2014/main" id="{9A9FA3E9-9DE7-45F5-8E04-B00DFCDE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724150"/>
            <a:ext cx="5724525" cy="413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defRPr>
            </a:pPr>
            <a:r>
              <a:t>束流统计、下降沿、MODE 与报警互证
轻微边界偏离不会单独触发故障
降低单一阈值带来的误报</a:t>
            </a:r>
          </a:p>
        </p:txBody>
      </p:sp>
      <p:sp>
        <p:nvSpPr>
          <p:cNvPr id="12" name="point-rule-3">
            <a:extLst xmlns:a="http://schemas.openxmlformats.org/drawingml/2006/main">
              <a:ext uri="{FF2B5EF4-FFF2-40B4-BE49-F238E27FC236}">
                <a16:creationId xmlns:a16="http://schemas.microsoft.com/office/drawing/2014/main" id="{820A5F5D-F328-4700-9768-480C0B9A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3" name="point-number-3">
            <a:extLst xmlns:a="http://schemas.openxmlformats.org/drawingml/2006/main">
              <a:ext uri="{FF2B5EF4-FFF2-40B4-BE49-F238E27FC236}">
                <a16:creationId xmlns:a16="http://schemas.microsoft.com/office/drawing/2014/main" id="{7A3B2307-A49F-4B3B-8DF5-1E30FA8D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1582400" cy="2914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4" name="point-title-3">
            <a:extLst xmlns:a="http://schemas.openxmlformats.org/drawingml/2006/main">
              <a:ext uri="{FF2B5EF4-FFF2-40B4-BE49-F238E27FC236}">
                <a16:creationId xmlns:a16="http://schemas.microsoft.com/office/drawing/2014/main" id="{80059F54-995B-42D5-BFB4-E0C727AC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1582400" cy="25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状态化事件管理避免重复告警</a:t>
            </a:r>
          </a:p>
        </p:txBody>
      </p:sp>
      <p:sp>
        <p:nvSpPr>
          <p:cNvPr id="15" name="point-body-3">
            <a:extLst xmlns:a="http://schemas.openxmlformats.org/drawingml/2006/main">
              <a:ext uri="{FF2B5EF4-FFF2-40B4-BE49-F238E27FC236}">
                <a16:creationId xmlns:a16="http://schemas.microsoft.com/office/drawing/2014/main" id="{C5694646-AB14-4947-8892-6BAD0118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158240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defRPr>
            </a:pPr>
            <a:r>
              <a:t>持续异常只更新同一 incident
保留初始分类与主因；连续 3 个
严格正常窗口后才确认恢复</a:t>
            </a:r>
          </a:p>
        </p:txBody>
      </p:sp>
      <p:sp>
        <p:nvSpPr>
          <p:cNvPr id="16" name="point-rule-4">
            <a:extLst xmlns:a="http://schemas.openxmlformats.org/drawingml/2006/main">
              <a:ext uri="{FF2B5EF4-FFF2-40B4-BE49-F238E27FC236}">
                <a16:creationId xmlns:a16="http://schemas.microsoft.com/office/drawing/2014/main" id="{6B83AC5F-B608-49B7-86B0-B824E7B4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9433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7" name="point-number-4">
            <a:extLst xmlns:a="http://schemas.openxmlformats.org/drawingml/2006/main">
              <a:ext uri="{FF2B5EF4-FFF2-40B4-BE49-F238E27FC236}">
                <a16:creationId xmlns:a16="http://schemas.microsoft.com/office/drawing/2014/main" id="{845447CD-CA79-4397-8BA5-A0B58B22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943350"/>
            <a:ext cx="5724525" cy="2914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18" name="point-title-4">
            <a:extLst xmlns:a="http://schemas.openxmlformats.org/drawingml/2006/main">
              <a:ext uri="{FF2B5EF4-FFF2-40B4-BE49-F238E27FC236}">
                <a16:creationId xmlns:a16="http://schemas.microsoft.com/office/drawing/2014/main" id="{7CF1FADD-38A8-41E9-ABBD-670DC0B9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267200"/>
            <a:ext cx="5724525" cy="25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模块化能力便于复用扩展</a:t>
            </a:r>
          </a:p>
        </p:txBody>
      </p:sp>
      <p:sp>
        <p:nvSpPr>
          <p:cNvPr id="19" name="point-body-4">
            <a:extLst xmlns:a="http://schemas.openxmlformats.org/drawingml/2006/main">
              <a:ext uri="{FF2B5EF4-FFF2-40B4-BE49-F238E27FC236}">
                <a16:creationId xmlns:a16="http://schemas.microsoft.com/office/drawing/2014/main" id="{1A89BC77-3D0D-4F4A-B5B0-5043B65C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781550"/>
            <a:ext cx="5724525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defRPr>
            </a:pPr>
            <a:r>
              <a:t>SQL / HTTP 数据源可替换
现象检测、原因分析拆为 Skill
提供独立 JSON / CLI 便携版本</a:t>
            </a:r>
          </a:p>
        </p:txBody>
      </p:sp>
      <p:sp>
        <p:nvSpPr>
          <p:cNvPr id="20" name="slide2-takeaway">
            <a:extLst xmlns:a="http://schemas.openxmlformats.org/drawingml/2006/main">
              <a:ext uri="{FF2B5EF4-FFF2-40B4-BE49-F238E27FC236}">
                <a16:creationId xmlns:a16="http://schemas.microsoft.com/office/drawing/2014/main" id="{AF666A92-D3AD-457C-A785-54A2245B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24550"/>
            <a:ext cx="117919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5D7A"/>
                </a:solidFill>
                <a:latin typeface="Microsoft YaHei"/>
                <a:ea typeface="Microsoft YaHei"/>
                <a:cs typeface="Microsoft YaHei"/>
              </a:defRPr>
            </a:pPr>
            <a:r>
              <a:t>结果：系统从“单次判断”升级为可回放、可追责、可持续演进的故障事件能力。</a:t>
            </a:r>
          </a:p>
        </p:txBody>
      </p:sp>
      <p:sp>
        <p:nvSpPr>
          <p:cNvPr id="21" name="page-2">
            <a:extLst xmlns:a="http://schemas.openxmlformats.org/drawingml/2006/main">
              <a:ext uri="{FF2B5EF4-FFF2-40B4-BE49-F238E27FC236}">
                <a16:creationId xmlns:a16="http://schemas.microsoft.com/office/drawing/2014/main" id="{DF3F4F40-3491-4760-BE80-3EBF274C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48400"/>
            <a:ext cx="9334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56877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3-title">
            <a:extLst xmlns:a="http://schemas.openxmlformats.org/drawingml/2006/main">
              <a:ext uri="{FF2B5EF4-FFF2-40B4-BE49-F238E27FC236}">
                <a16:creationId xmlns:a16="http://schemas.microsoft.com/office/drawing/2014/main" id="{30CB6FD3-1D63-4AFC-8E50-495E0F60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791950" cy="653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自动化验证已闭环，真实标注评估仍待补齐</a:t>
            </a:r>
          </a:p>
        </p:txBody>
      </p:sp>
      <p:sp>
        <p:nvSpPr>
          <p:cNvPr id="2" name="chart-label">
            <a:extLst xmlns:a="http://schemas.openxmlformats.org/drawingml/2006/main">
              <a:ext uri="{FF2B5EF4-FFF2-40B4-BE49-F238E27FC236}">
                <a16:creationId xmlns:a16="http://schemas.microsoft.com/office/drawing/2014/main" id="{FEA0E8BA-8A7F-415A-93D8-C8126359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11791950" cy="567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代表性测试曲线（mA）</a:t>
            </a:r>
          </a:p>
        </p:txBody>
      </p:sp>
      <p:sp>
        <p:nvSpPr>
          <p:cNvPr id="3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DB01B5A9-5E4C-47BD-84CE-B0B5C72C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257300"/>
            <a:ext cx="5753100" cy="560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典型场景均得到结构化、可核验的结果</a:t>
            </a:r>
          </a:p>
        </p:txBody>
      </p:sp>
      <p:sp>
        <p:nvSpPr>
          <p:cNvPr id="4" name="case-results">
            <a:extLst xmlns:a="http://schemas.openxmlformats.org/drawingml/2006/main">
              <a:ext uri="{FF2B5EF4-FFF2-40B4-BE49-F238E27FC236}">
                <a16:creationId xmlns:a16="http://schemas.microsoft.com/office/drawing/2014/main" id="{AD871A39-AADC-46AC-B497-BD32FADF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14500"/>
            <a:ext cx="5753100" cy="514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t>• 掉束：498 → 420 → 80 → 20，输出 drop / critical，主因 Low Current。
• Decay：498 → 496 → 494 → 492，叠加 MODE=0 与注入效率报警，输出 decay / warning。
• 跨窗事件：可重建查询开始前已发生的 MODE 中断，并定位 KLY3_Err。</a:t>
            </a:r>
          </a:p>
        </p:txBody>
      </p:sp>
      <p:sp>
        <p:nvSpPr>
          <p:cNvPr id="5" name="metric-panel-1">
            <a:extLst xmlns:a="http://schemas.openxmlformats.org/drawingml/2006/main">
              <a:ext uri="{FF2B5EF4-FFF2-40B4-BE49-F238E27FC236}">
                <a16:creationId xmlns:a16="http://schemas.microsoft.com/office/drawing/2014/main" id="{30701840-8BE0-4F7C-8E8D-BCD577F2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29000"/>
            <a:ext cx="24574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solidFill>
              <a:srgbClr val="F1F2F3"/>
            </a:solidFill>
            <a:prstDash val="solid"/>
          </a:ln>
        </p:spPr>
      </p:sp>
      <p:sp>
        <p:nvSpPr>
          <p:cNvPr id="6" name="metric-1">
            <a:extLst xmlns:a="http://schemas.openxmlformats.org/drawingml/2006/main">
              <a:ext uri="{FF2B5EF4-FFF2-40B4-BE49-F238E27FC236}">
                <a16:creationId xmlns:a16="http://schemas.microsoft.com/office/drawing/2014/main" id="{7CA96BC5-AD3A-4A2D-91B0-A76A220C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95700"/>
            <a:ext cx="5524500" cy="316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32 / 32</a:t>
            </a:r>
          </a:p>
        </p:txBody>
      </p:sp>
      <p:sp>
        <p:nvSpPr>
          <p:cNvPr id="7" name="metric-1-label">
            <a:extLst xmlns:a="http://schemas.openxmlformats.org/drawingml/2006/main">
              <a:ext uri="{FF2B5EF4-FFF2-40B4-BE49-F238E27FC236}">
                <a16:creationId xmlns:a16="http://schemas.microsoft.com/office/drawing/2014/main" id="{51EDE0DE-2E1F-4D1B-96EB-FF9F3049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62450"/>
            <a:ext cx="5524500" cy="2495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t>束流专项测试通过
覆盖：检测 / 归因 / 合并
恢复 / 便携 CLI</a:t>
            </a:r>
          </a:p>
        </p:txBody>
      </p:sp>
      <p:sp>
        <p:nvSpPr>
          <p:cNvPr id="8" name="metric-panel-2">
            <a:extLst xmlns:a="http://schemas.openxmlformats.org/drawingml/2006/main">
              <a:ext uri="{FF2B5EF4-FFF2-40B4-BE49-F238E27FC236}">
                <a16:creationId xmlns:a16="http://schemas.microsoft.com/office/drawing/2014/main" id="{660D271D-5244-4E2F-AF03-7BAE5011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29000"/>
            <a:ext cx="24574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solidFill>
              <a:srgbClr val="F1F2F3"/>
            </a:solidFill>
            <a:prstDash val="solid"/>
          </a:ln>
        </p:spPr>
      </p:sp>
      <p:sp>
        <p:nvSpPr>
          <p:cNvPr id="9" name="metric-2">
            <a:extLst xmlns:a="http://schemas.openxmlformats.org/drawingml/2006/main">
              <a:ext uri="{FF2B5EF4-FFF2-40B4-BE49-F238E27FC236}">
                <a16:creationId xmlns:a16="http://schemas.microsoft.com/office/drawing/2014/main" id="{888BBAA7-5E62-485D-8196-CF5D44A8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95700"/>
            <a:ext cx="2743200" cy="316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105 / 105</a:t>
            </a:r>
          </a:p>
        </p:txBody>
      </p:sp>
      <p:sp>
        <p:nvSpPr>
          <p:cNvPr id="10" name="metric-2-label">
            <a:extLst xmlns:a="http://schemas.openxmlformats.org/drawingml/2006/main">
              <a:ext uri="{FF2B5EF4-FFF2-40B4-BE49-F238E27FC236}">
                <a16:creationId xmlns:a16="http://schemas.microsoft.com/office/drawing/2014/main" id="{6CA6B43C-05BC-43D8-A007-2D03A1DD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362450"/>
            <a:ext cx="2743200" cy="2495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t>全量回归测试通过
确认新增束流能力
未破坏项目其他链路</a:t>
            </a:r>
          </a:p>
        </p:txBody>
      </p:sp>
      <p:sp>
        <p:nvSpPr>
          <p:cNvPr id="11" name="evaluation-boundary-rule">
            <a:extLst xmlns:a="http://schemas.openxmlformats.org/drawingml/2006/main">
              <a:ext uri="{FF2B5EF4-FFF2-40B4-BE49-F238E27FC236}">
                <a16:creationId xmlns:a16="http://schemas.microsoft.com/office/drawing/2014/main" id="{98C33930-96BD-454D-8205-04A32C57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29590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712"/>
          </a:solidFill>
          <a:ln xmlns:a="http://schemas.openxmlformats.org/drawingml/2006/main" w="0">
            <a:solidFill>
              <a:srgbClr val="F3A712"/>
            </a:solidFill>
            <a:prstDash val="solid"/>
          </a:ln>
        </p:spPr>
      </p:sp>
      <p:sp>
        <p:nvSpPr>
          <p:cNvPr id="12" name="evaluation-boundary">
            <a:extLst xmlns:a="http://schemas.openxmlformats.org/drawingml/2006/main">
              <a:ext uri="{FF2B5EF4-FFF2-40B4-BE49-F238E27FC236}">
                <a16:creationId xmlns:a16="http://schemas.microsoft.com/office/drawing/2014/main" id="{904926A2-A726-4B9F-BA53-FFAD3B54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257800"/>
            <a:ext cx="55626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A4311"/>
                </a:solidFill>
                <a:latin typeface="Microsoft YaHei"/>
                <a:ea typeface="Microsoft YaHei"/>
                <a:cs typeface="Microsoft YaHei"/>
              </a:defRPr>
            </a:pPr>
            <a:r>
              <a:t>评估边界：当前证明的是功能与回归正确性，尚不能替代现场 Precision / Recall / F1。下一步需构建真实标注故障集并校准阈值。</a:t>
            </a:r>
          </a:p>
        </p:txBody>
      </p:sp>
      <p:sp>
        <p:nvSpPr>
          <p:cNvPr id="13" name="evaluation-source">
            <a:extLst xmlns:a="http://schemas.openxmlformats.org/drawingml/2006/main">
              <a:ext uri="{FF2B5EF4-FFF2-40B4-BE49-F238E27FC236}">
                <a16:creationId xmlns:a16="http://schemas.microsoft.com/office/drawing/2014/main" id="{0467C4C1-B96E-4364-8EC8-273EEF14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17919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依据：项目自动化测试；本地回归时间 2026-07-24。</a:t>
            </a:r>
          </a:p>
        </p:txBody>
      </p:sp>
      <p:sp>
        <p:nvSpPr>
          <p:cNvPr id="14" name="page-3">
            <a:extLst xmlns:a="http://schemas.openxmlformats.org/drawingml/2006/main">
              <a:ext uri="{FF2B5EF4-FFF2-40B4-BE49-F238E27FC236}">
                <a16:creationId xmlns:a16="http://schemas.microsoft.com/office/drawing/2014/main" id="{41C9A0BB-46A7-4781-93C2-0B08CB93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48400"/>
            <a:ext cx="9334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3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400050" y="1504950"/>
          <a:ext xmlns:a="http://schemas.openxmlformats.org/drawingml/2006/main" cx="558165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2891e04eeb94228"/>
          </a:graphicData>
        </a:graphic>
      </p:graphicFrame>
    </p:spTree>
    <p:extLst>
      <p:ext uri="{BB962C8B-B14F-4D97-AF65-F5344CB8AC3E}">
        <p14:creationId xmlns:p14="http://schemas.microsoft.com/office/powerpoint/2010/main" val="11638966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2026-07-24T01:35:23.1550000Z</dcterms:created>
  <dcterms:modified xsi:type="dcterms:W3CDTF">2026-07-24T01:35:23.1560000Z</dcterms:modified>
</coreProperties>
</file>